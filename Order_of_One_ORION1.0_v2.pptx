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 Medium" charset="1" panose="02000503000000020004"/>
      <p:regular r:id="rId14"/>
    </p:embeddedFont>
    <p:embeddedFont>
      <p:font typeface="Inter" charset="1" panose="0200050300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7920858" y="-263261"/>
            <a:ext cx="11596566" cy="11596566"/>
          </a:xfrm>
          <a:custGeom>
            <a:avLst/>
            <a:gdLst/>
            <a:ahLst/>
            <a:cxnLst/>
            <a:rect r="r" b="b" t="t" l="l"/>
            <a:pathLst>
              <a:path h="11596566" w="11596566">
                <a:moveTo>
                  <a:pt x="0" y="0"/>
                </a:moveTo>
                <a:lnTo>
                  <a:pt x="11596566" y="0"/>
                </a:lnTo>
                <a:lnTo>
                  <a:pt x="11596566" y="11596566"/>
                </a:lnTo>
                <a:lnTo>
                  <a:pt x="0" y="1159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2672236" y="2459259"/>
            <a:ext cx="11046906" cy="221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80"/>
              </a:lnSpc>
            </a:pPr>
            <a:r>
              <a:rPr lang="en-US" b="true" sz="18785" spc="-93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ORION 1.0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61449" y="5439772"/>
            <a:ext cx="12499479" cy="340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8"/>
              </a:lnSpc>
              <a:spcBef>
                <a:spcPct val="0"/>
              </a:spcBef>
            </a:pPr>
            <a:r>
              <a:rPr lang="en-US" sz="4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Problem Statement ID: ORION-PS-03</a:t>
            </a:r>
            <a:r>
              <a:rPr lang="en-US" sz="4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  <a:p>
            <a:pPr algn="l">
              <a:lnSpc>
                <a:spcPts val="6788"/>
              </a:lnSpc>
              <a:spcBef>
                <a:spcPct val="0"/>
              </a:spcBef>
            </a:pPr>
            <a:r>
              <a:rPr lang="en-US" sz="4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Problem Statement Title: SylvaSense</a:t>
            </a:r>
          </a:p>
          <a:p>
            <a:pPr algn="l">
              <a:lnSpc>
                <a:spcPts val="6788"/>
              </a:lnSpc>
              <a:spcBef>
                <a:spcPct val="0"/>
              </a:spcBef>
            </a:pPr>
            <a:r>
              <a:rPr lang="en-US" sz="4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ID: [ FILL THIS IN ]</a:t>
            </a:r>
          </a:p>
          <a:p>
            <a:pPr algn="l">
              <a:lnSpc>
                <a:spcPts val="6788"/>
              </a:lnSpc>
              <a:spcBef>
                <a:spcPct val="0"/>
              </a:spcBef>
            </a:pPr>
            <a:r>
              <a:rPr lang="en-US" sz="4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Name: Order of One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0048" y="954748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b="true" sz="6999" spc="-34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Proposed</a:t>
            </a:r>
            <a:r>
              <a:rPr lang="en-US" b="true" sz="6999" spc="-34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Solution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  <p:sp>
        <p:nvSpPr>
          <p:cNvPr id="8" name="sylva-text-5"/>
          <p:cNvSpPr txBox="1"/>
          <p:nvPr/>
        </p:nvSpPr>
        <p:spPr>
          <a:xfrm>
            <a:off x="935735" y="2403119"/>
            <a:ext cx="17297399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SYLVASENSE</a:t>
            </a:r>
          </a:p>
        </p:txBody>
      </p:sp>
      <p:sp>
        <p:nvSpPr>
          <p:cNvPr id="9" name="sylva-text-6"/>
          <p:cNvSpPr txBox="1"/>
          <p:nvPr/>
        </p:nvSpPr>
        <p:spPr>
          <a:xfrm>
            <a:off x="935735" y="2727731"/>
            <a:ext cx="17297399" cy="155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110" b="1">
                <a:solidFill>
                  <a:srgbClr val="FFFFFF"/>
                </a:solidFill>
                <a:latin typeface="Inter"/>
              </a:rPr>
              <a:t>From canopy</a:t>
            </a:r>
          </a:p>
        </p:txBody>
      </p:sp>
      <p:sp>
        <p:nvSpPr>
          <p:cNvPr id="10" name="sylva-text-7"/>
          <p:cNvSpPr txBox="1"/>
          <p:nvPr/>
        </p:nvSpPr>
        <p:spPr>
          <a:xfrm>
            <a:off x="935735" y="3654831"/>
            <a:ext cx="17297399" cy="155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110" b="1">
                <a:solidFill>
                  <a:srgbClr val="FFFFFF"/>
                </a:solidFill>
                <a:latin typeface="Inter"/>
              </a:rPr>
              <a:t>to carbon.</a:t>
            </a:r>
          </a:p>
        </p:txBody>
      </p:sp>
      <p:sp>
        <p:nvSpPr>
          <p:cNvPr id="11" name="sylva-text-8"/>
          <p:cNvSpPr txBox="1"/>
          <p:nvPr/>
        </p:nvSpPr>
        <p:spPr>
          <a:xfrm>
            <a:off x="935735" y="5005323"/>
            <a:ext cx="172973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Inter"/>
              </a:rPr>
              <a:t>One polygon in. Four kinds of evidence out.</a:t>
            </a:r>
          </a:p>
        </p:txBody>
      </p:sp>
      <p:sp>
        <p:nvSpPr>
          <p:cNvPr id="12" name="sylva-text-9"/>
          <p:cNvSpPr txBox="1"/>
          <p:nvPr/>
        </p:nvSpPr>
        <p:spPr>
          <a:xfrm>
            <a:off x="935735" y="5465572"/>
            <a:ext cx="17297399" cy="7111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B6FAFF"/>
                </a:solidFill>
                <a:latin typeface="Inter"/>
              </a:rPr>
              <a:t>Every number carries its uncertainty.</a:t>
            </a:r>
          </a:p>
        </p:txBody>
      </p:sp>
      <p:sp>
        <p:nvSpPr>
          <p:cNvPr id="13" name="sylva-text-10"/>
          <p:cNvSpPr txBox="1"/>
          <p:nvPr/>
        </p:nvSpPr>
        <p:spPr>
          <a:xfrm>
            <a:off x="961136" y="6255232"/>
            <a:ext cx="17272000" cy="6324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90" b="1">
                <a:solidFill>
                  <a:srgbClr val="B6FAFF"/>
                </a:solidFill>
                <a:latin typeface="Inter"/>
              </a:rPr>
              <a:t>01</a:t>
            </a:r>
          </a:p>
        </p:txBody>
      </p:sp>
      <p:sp>
        <p:nvSpPr>
          <p:cNvPr id="14" name="sylva-text-11"/>
          <p:cNvSpPr txBox="1"/>
          <p:nvPr/>
        </p:nvSpPr>
        <p:spPr>
          <a:xfrm>
            <a:off x="1773936" y="6224524"/>
            <a:ext cx="16459200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nter"/>
              </a:rPr>
              <a:t>Crown GeoJSON</a:t>
            </a:r>
          </a:p>
        </p:txBody>
      </p:sp>
      <p:sp>
        <p:nvSpPr>
          <p:cNvPr id="15" name="sylva-text-12"/>
          <p:cNvSpPr txBox="1"/>
          <p:nvPr/>
        </p:nvSpPr>
        <p:spPr>
          <a:xfrm>
            <a:off x="1773936" y="6639305"/>
            <a:ext cx="16459200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9F3FC"/>
                </a:solidFill>
                <a:latin typeface="Inter"/>
              </a:rPr>
              <a:t>Per-tree polygons, each with a confidence score</a:t>
            </a:r>
          </a:p>
        </p:txBody>
      </p:sp>
      <p:sp>
        <p:nvSpPr>
          <p:cNvPr id="16" name="sylva-text-13"/>
          <p:cNvSpPr txBox="1"/>
          <p:nvPr/>
        </p:nvSpPr>
        <p:spPr>
          <a:xfrm>
            <a:off x="961136" y="7029932"/>
            <a:ext cx="17272000" cy="6324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90" b="1">
                <a:solidFill>
                  <a:srgbClr val="B6FAFF"/>
                </a:solidFill>
                <a:latin typeface="Inter"/>
              </a:rPr>
              <a:t>02</a:t>
            </a:r>
          </a:p>
        </p:txBody>
      </p:sp>
      <p:sp>
        <p:nvSpPr>
          <p:cNvPr id="17" name="sylva-text-14"/>
          <p:cNvSpPr txBox="1"/>
          <p:nvPr/>
        </p:nvSpPr>
        <p:spPr>
          <a:xfrm>
            <a:off x="1773936" y="6999223"/>
            <a:ext cx="16459200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nter"/>
              </a:rPr>
              <a:t>Spectral-toggle map</a:t>
            </a:r>
          </a:p>
        </p:txBody>
      </p:sp>
      <p:sp>
        <p:nvSpPr>
          <p:cNvPr id="18" name="sylva-text-15"/>
          <p:cNvSpPr txBox="1"/>
          <p:nvPr/>
        </p:nvSpPr>
        <p:spPr>
          <a:xfrm>
            <a:off x="1773936" y="7414006"/>
            <a:ext cx="16459200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9F3FC"/>
                </a:solidFill>
                <a:latin typeface="Inter"/>
              </a:rPr>
              <a:t>Optical, radar and structure in one frame</a:t>
            </a:r>
          </a:p>
        </p:txBody>
      </p:sp>
      <p:sp>
        <p:nvSpPr>
          <p:cNvPr id="19" name="sylva-text-16"/>
          <p:cNvSpPr txBox="1"/>
          <p:nvPr/>
        </p:nvSpPr>
        <p:spPr>
          <a:xfrm>
            <a:off x="961136" y="7804632"/>
            <a:ext cx="17272000" cy="6324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90" b="1">
                <a:solidFill>
                  <a:srgbClr val="B6FAFF"/>
                </a:solidFill>
                <a:latin typeface="Inter"/>
              </a:rPr>
              <a:t>03</a:t>
            </a:r>
          </a:p>
        </p:txBody>
      </p:sp>
      <p:sp>
        <p:nvSpPr>
          <p:cNvPr id="20" name="sylva-text-17"/>
          <p:cNvSpPr txBox="1"/>
          <p:nvPr/>
        </p:nvSpPr>
        <p:spPr>
          <a:xfrm>
            <a:off x="1773936" y="7773924"/>
            <a:ext cx="16459200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nter"/>
              </a:rPr>
              <a:t>Biomass + validation report</a:t>
            </a:r>
          </a:p>
        </p:txBody>
      </p:sp>
      <p:sp>
        <p:nvSpPr>
          <p:cNvPr id="21" name="sylva-text-18"/>
          <p:cNvSpPr txBox="1"/>
          <p:nvPr/>
        </p:nvSpPr>
        <p:spPr>
          <a:xfrm>
            <a:off x="1773936" y="8188705"/>
            <a:ext cx="16459200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9F3FC"/>
                </a:solidFill>
                <a:latin typeface="Inter"/>
              </a:rPr>
              <a:t>Mg/ha with an interval that is checked</a:t>
            </a:r>
          </a:p>
        </p:txBody>
      </p:sp>
      <p:sp>
        <p:nvSpPr>
          <p:cNvPr id="22" name="sylva-text-19"/>
          <p:cNvSpPr txBox="1"/>
          <p:nvPr/>
        </p:nvSpPr>
        <p:spPr>
          <a:xfrm>
            <a:off x="961136" y="8579332"/>
            <a:ext cx="17272000" cy="6324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90" b="1">
                <a:solidFill>
                  <a:srgbClr val="B6FAFF"/>
                </a:solidFill>
                <a:latin typeface="Inter"/>
              </a:rPr>
              <a:t>04</a:t>
            </a:r>
          </a:p>
        </p:txBody>
      </p:sp>
      <p:sp>
        <p:nvSpPr>
          <p:cNvPr id="23" name="sylva-text-20"/>
          <p:cNvSpPr txBox="1"/>
          <p:nvPr/>
        </p:nvSpPr>
        <p:spPr>
          <a:xfrm>
            <a:off x="1773936" y="8548624"/>
            <a:ext cx="16459200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nter"/>
              </a:rPr>
              <a:t>Live polygon inference</a:t>
            </a:r>
          </a:p>
        </p:txBody>
      </p:sp>
      <p:sp>
        <p:nvSpPr>
          <p:cNvPr id="24" name="sylva-text-21"/>
          <p:cNvSpPr txBox="1"/>
          <p:nvPr/>
        </p:nvSpPr>
        <p:spPr>
          <a:xfrm>
            <a:off x="1773936" y="8963405"/>
            <a:ext cx="16459200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9F3FC"/>
                </a:solidFill>
                <a:latin typeface="Inter"/>
              </a:rPr>
              <a:t>Draw an area; evidence returns with its sources</a:t>
            </a:r>
          </a:p>
        </p:txBody>
      </p:sp>
      <p:pic>
        <p:nvPicPr>
          <p:cNvPr id="25" name="sylva-diagram-slide2" descr="slid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3800" y="2476499"/>
            <a:ext cx="5842000" cy="3276599"/>
          </a:xfrm>
          <a:prstGeom prst="rect">
            <a:avLst/>
          </a:prstGeom>
          <a:ln w="9525">
            <a:solidFill>
              <a:srgbClr val="B6FAFF"/>
            </a:solidFill>
          </a:ln>
        </p:spPr>
      </p:pic>
      <p:pic>
        <p:nvPicPr>
          <p:cNvPr id="26" name="sylva-diagram-provenance" descr="proven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3800" y="5943600"/>
            <a:ext cx="5842000" cy="3276599"/>
          </a:xfrm>
          <a:prstGeom prst="rect">
            <a:avLst/>
          </a:prstGeom>
          <a:ln w="9525">
            <a:solidFill>
              <a:srgbClr val="B6FAFF"/>
            </a:solidFill>
          </a:ln>
        </p:spPr>
      </p:pic>
      <p:sp>
        <p:nvSpPr>
          <p:cNvPr id="27" name="sylva-text-24"/>
          <p:cNvSpPr txBox="1"/>
          <p:nvPr/>
        </p:nvSpPr>
        <p:spPr>
          <a:xfrm>
            <a:off x="910336" y="9612122"/>
            <a:ext cx="173228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Four outputs from one request • Live system, first results on 6 sites • Live demo: [ PASTE YOUR URL ]</a:t>
            </a:r>
          </a:p>
        </p:txBody>
      </p:sp>
      <p:sp>
        <p:nvSpPr>
          <p:cNvPr id="28" name="sylva-text-25"/>
          <p:cNvSpPr txBox="1"/>
          <p:nvPr/>
        </p:nvSpPr>
        <p:spPr>
          <a:xfrm>
            <a:off x="17337786" y="9612122"/>
            <a:ext cx="8953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0048" y="954748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echnical Approach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  <p:sp>
        <p:nvSpPr>
          <p:cNvPr id="8" name="sylva-text-5"/>
          <p:cNvSpPr txBox="1"/>
          <p:nvPr/>
        </p:nvSpPr>
        <p:spPr>
          <a:xfrm>
            <a:off x="935735" y="1934463"/>
            <a:ext cx="17297399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Inter"/>
              </a:rPr>
              <a:t>Three scales. One pipeline.</a:t>
            </a:r>
          </a:p>
        </p:txBody>
      </p:sp>
      <p:sp>
        <p:nvSpPr>
          <p:cNvPr id="9" name="sylva-text-6"/>
          <p:cNvSpPr txBox="1"/>
          <p:nvPr/>
        </p:nvSpPr>
        <p:spPr>
          <a:xfrm>
            <a:off x="935735" y="2961919"/>
            <a:ext cx="17297399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CROWNS  /  FINE AERIAL IMAGERY</a:t>
            </a:r>
          </a:p>
        </p:txBody>
      </p:sp>
      <p:sp>
        <p:nvSpPr>
          <p:cNvPr id="10" name="sylva-text-7"/>
          <p:cNvSpPr txBox="1"/>
          <p:nvPr/>
        </p:nvSpPr>
        <p:spPr>
          <a:xfrm>
            <a:off x="935735" y="3380994"/>
            <a:ext cx="17297399" cy="787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Inter"/>
              </a:rPr>
              <a:t>Mask2Former + Swin-S</a:t>
            </a:r>
          </a:p>
        </p:txBody>
      </p:sp>
      <p:sp>
        <p:nvSpPr>
          <p:cNvPr id="11" name="sylva-text-8"/>
          <p:cNvSpPr txBox="1"/>
          <p:nvPr/>
        </p:nvSpPr>
        <p:spPr>
          <a:xfrm>
            <a:off x="935735" y="3932428"/>
            <a:ext cx="172973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Inter"/>
              </a:rPr>
              <a:t>0.1 m NEON RGB, tiled and merged</a:t>
            </a:r>
          </a:p>
        </p:txBody>
      </p:sp>
      <p:sp>
        <p:nvSpPr>
          <p:cNvPr id="12" name="sylva-text-9"/>
          <p:cNvSpPr txBox="1"/>
          <p:nvPr/>
        </p:nvSpPr>
        <p:spPr>
          <a:xfrm>
            <a:off x="935735" y="4301236"/>
            <a:ext cx="172973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Inter"/>
              </a:rPr>
              <a:t>Every mask checked against the canopy height model</a:t>
            </a:r>
          </a:p>
        </p:txBody>
      </p:sp>
      <p:sp>
        <p:nvSpPr>
          <p:cNvPr id="13" name="sylva-text-10"/>
          <p:cNvSpPr txBox="1"/>
          <p:nvPr/>
        </p:nvSpPr>
        <p:spPr>
          <a:xfrm>
            <a:off x="935735" y="4866919"/>
            <a:ext cx="17297399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BIOMASS  /  OPTICAL + SAR + LIDAR</a:t>
            </a:r>
          </a:p>
        </p:txBody>
      </p:sp>
      <p:sp>
        <p:nvSpPr>
          <p:cNvPr id="14" name="sylva-text-11"/>
          <p:cNvSpPr txBox="1"/>
          <p:nvPr/>
        </p:nvSpPr>
        <p:spPr>
          <a:xfrm>
            <a:off x="935735" y="5285994"/>
            <a:ext cx="17297399" cy="787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Inter"/>
              </a:rPr>
              <a:t>Gradient boosting + split conformal</a:t>
            </a:r>
          </a:p>
        </p:txBody>
      </p:sp>
      <p:sp>
        <p:nvSpPr>
          <p:cNvPr id="15" name="sylva-text-12"/>
          <p:cNvSpPr txBox="1"/>
          <p:nvPr/>
        </p:nvSpPr>
        <p:spPr>
          <a:xfrm>
            <a:off x="935735" y="5837428"/>
            <a:ext cx="172973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Inter"/>
              </a:rPr>
              <a:t>GEDI footprints are the calibration target</a:t>
            </a:r>
          </a:p>
        </p:txBody>
      </p:sp>
      <p:sp>
        <p:nvSpPr>
          <p:cNvPr id="16" name="sylva-text-13"/>
          <p:cNvSpPr txBox="1"/>
          <p:nvPr/>
        </p:nvSpPr>
        <p:spPr>
          <a:xfrm>
            <a:off x="935735" y="6206236"/>
            <a:ext cx="172973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Inter"/>
              </a:rPr>
              <a:t>Coverage measured on held-out ground, not assumed</a:t>
            </a:r>
          </a:p>
        </p:txBody>
      </p:sp>
      <p:sp>
        <p:nvSpPr>
          <p:cNvPr id="17" name="sylva-text-14"/>
          <p:cNvSpPr txBox="1"/>
          <p:nvPr/>
        </p:nvSpPr>
        <p:spPr>
          <a:xfrm>
            <a:off x="935735" y="6771919"/>
            <a:ext cx="17297399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CHANGE  /  MULTI-YEAR OBSERVATIONS</a:t>
            </a:r>
          </a:p>
        </p:txBody>
      </p:sp>
      <p:sp>
        <p:nvSpPr>
          <p:cNvPr id="18" name="sylva-text-15"/>
          <p:cNvSpPr txBox="1"/>
          <p:nvPr/>
        </p:nvSpPr>
        <p:spPr>
          <a:xfrm>
            <a:off x="935735" y="7190994"/>
            <a:ext cx="17297399" cy="787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Inter"/>
              </a:rPr>
              <a:t>Harmonic baseline + Bayesian confirmation</a:t>
            </a:r>
          </a:p>
        </p:txBody>
      </p:sp>
      <p:sp>
        <p:nvSpPr>
          <p:cNvPr id="19" name="sylva-text-16"/>
          <p:cNvSpPr txBox="1"/>
          <p:nvPr/>
        </p:nvSpPr>
        <p:spPr>
          <a:xfrm>
            <a:off x="935735" y="7742428"/>
            <a:ext cx="172973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Inter"/>
              </a:rPr>
              <a:t>A drop must persist before it is called a detection</a:t>
            </a:r>
          </a:p>
        </p:txBody>
      </p:sp>
      <p:sp>
        <p:nvSpPr>
          <p:cNvPr id="20" name="sylva-text-17"/>
          <p:cNvSpPr txBox="1"/>
          <p:nvPr/>
        </p:nvSpPr>
        <p:spPr>
          <a:xfrm>
            <a:off x="935735" y="8111235"/>
            <a:ext cx="172973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Inter"/>
              </a:rPr>
              <a:t>Below its power threshold the detector reports nothing</a:t>
            </a:r>
          </a:p>
        </p:txBody>
      </p:sp>
      <p:sp>
        <p:nvSpPr>
          <p:cNvPr id="21" name="sylva-text-18"/>
          <p:cNvSpPr txBox="1"/>
          <p:nvPr/>
        </p:nvSpPr>
        <p:spPr>
          <a:xfrm>
            <a:off x="961136" y="8729472"/>
            <a:ext cx="17272000" cy="7111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AGB = Σ density × area     |     Aboveground carbon = AGB × CF</a:t>
            </a:r>
          </a:p>
        </p:txBody>
      </p:sp>
      <p:pic>
        <p:nvPicPr>
          <p:cNvPr id="22" name="sylva-diagram-slide3" descr="slid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0400" y="3124200"/>
            <a:ext cx="8280400" cy="4660900"/>
          </a:xfrm>
          <a:prstGeom prst="rect">
            <a:avLst/>
          </a:prstGeom>
          <a:ln w="9525">
            <a:solidFill>
              <a:srgbClr val="B6FAFF"/>
            </a:solidFill>
          </a:ln>
        </p:spPr>
      </p:pic>
      <p:sp>
        <p:nvSpPr>
          <p:cNvPr id="23" name="sylva-text-20"/>
          <p:cNvSpPr txBox="1"/>
          <p:nvPr/>
        </p:nvSpPr>
        <p:spPr>
          <a:xfrm>
            <a:off x="910336" y="9612122"/>
            <a:ext cx="173228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Mg/ha × ha = Mg • CF starts at 0.47; refine by forest type [10] • Crown / biomass / change methods: [2–8]</a:t>
            </a:r>
          </a:p>
        </p:txBody>
      </p:sp>
      <p:sp>
        <p:nvSpPr>
          <p:cNvPr id="24" name="sylva-text-21"/>
          <p:cNvSpPr txBox="1"/>
          <p:nvPr/>
        </p:nvSpPr>
        <p:spPr>
          <a:xfrm>
            <a:off x="17337786" y="9612122"/>
            <a:ext cx="8953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0048" y="954748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easibility &amp; Viability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  <p:sp>
        <p:nvSpPr>
          <p:cNvPr id="8" name="sylva-text-5"/>
          <p:cNvSpPr txBox="1"/>
          <p:nvPr/>
        </p:nvSpPr>
        <p:spPr>
          <a:xfrm>
            <a:off x="935735" y="2032507"/>
            <a:ext cx="17297399" cy="1066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Inter"/>
              </a:rPr>
              <a:t>Three gates. Already passing.</a:t>
            </a:r>
          </a:p>
        </p:txBody>
      </p:sp>
      <p:sp>
        <p:nvSpPr>
          <p:cNvPr id="9" name="sylva-text-6"/>
          <p:cNvSpPr txBox="1"/>
          <p:nvPr/>
        </p:nvSpPr>
        <p:spPr>
          <a:xfrm>
            <a:off x="935735" y="3165119"/>
            <a:ext cx="17297399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01   VERIFIED THE DATA</a:t>
            </a:r>
          </a:p>
        </p:txBody>
      </p:sp>
      <p:sp>
        <p:nvSpPr>
          <p:cNvPr id="10" name="sylva-text-7"/>
          <p:cNvSpPr txBox="1"/>
          <p:nvPr/>
        </p:nvSpPr>
        <p:spPr>
          <a:xfrm>
            <a:off x="935735" y="3573272"/>
            <a:ext cx="17297399" cy="7111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6 sites audited on 3 independent layers</a:t>
            </a:r>
          </a:p>
        </p:txBody>
      </p:sp>
      <p:sp>
        <p:nvSpPr>
          <p:cNvPr id="11" name="sylva-text-8"/>
          <p:cNvSpPr txBox="1"/>
          <p:nvPr/>
        </p:nvSpPr>
        <p:spPr>
          <a:xfrm>
            <a:off x="935735" y="4089653"/>
            <a:ext cx="17297399" cy="533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Inter"/>
              </a:rPr>
              <a:t>2 of 5 candidates failed the audit and were rejected</a:t>
            </a:r>
          </a:p>
        </p:txBody>
      </p:sp>
      <p:sp>
        <p:nvSpPr>
          <p:cNvPr id="12" name="sylva-text-9"/>
          <p:cNvSpPr txBox="1"/>
          <p:nvPr/>
        </p:nvSpPr>
        <p:spPr>
          <a:xfrm>
            <a:off x="935735" y="4841519"/>
            <a:ext cx="17297399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02   EARNED THE MODEL CHOICE</a:t>
            </a:r>
          </a:p>
        </p:txBody>
      </p:sp>
      <p:sp>
        <p:nvSpPr>
          <p:cNvPr id="13" name="sylva-text-10"/>
          <p:cNvSpPr txBox="1"/>
          <p:nvPr/>
        </p:nvSpPr>
        <p:spPr>
          <a:xfrm>
            <a:off x="935735" y="5249672"/>
            <a:ext cx="17297399" cy="7111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Spatially-blocked folds, never a random split</a:t>
            </a:r>
          </a:p>
        </p:txBody>
      </p:sp>
      <p:sp>
        <p:nvSpPr>
          <p:cNvPr id="14" name="sylva-text-11"/>
          <p:cNvSpPr txBox="1"/>
          <p:nvPr/>
        </p:nvSpPr>
        <p:spPr>
          <a:xfrm>
            <a:off x="935735" y="5766053"/>
            <a:ext cx="17297399" cy="533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Inter"/>
              </a:rPr>
              <a:t>Neighbouring footprints are one observation, not two</a:t>
            </a:r>
          </a:p>
        </p:txBody>
      </p:sp>
      <p:sp>
        <p:nvSpPr>
          <p:cNvPr id="15" name="sylva-text-12"/>
          <p:cNvSpPr txBox="1"/>
          <p:nvPr/>
        </p:nvSpPr>
        <p:spPr>
          <a:xfrm>
            <a:off x="935735" y="6517919"/>
            <a:ext cx="17297399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03   MEASURED THE TRADE-OFFS</a:t>
            </a:r>
          </a:p>
        </p:txBody>
      </p:sp>
      <p:sp>
        <p:nvSpPr>
          <p:cNvPr id="16" name="sylva-text-13"/>
          <p:cNvSpPr txBox="1"/>
          <p:nvPr/>
        </p:nvSpPr>
        <p:spPr>
          <a:xfrm>
            <a:off x="935735" y="6926072"/>
            <a:ext cx="17297399" cy="7111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False positives on primary forest: 0.01–0.02%</a:t>
            </a:r>
          </a:p>
        </p:txBody>
      </p:sp>
      <p:sp>
        <p:nvSpPr>
          <p:cNvPr id="17" name="sylva-text-14"/>
          <p:cNvSpPr txBox="1"/>
          <p:nvPr/>
        </p:nvSpPr>
        <p:spPr>
          <a:xfrm>
            <a:off x="935735" y="7442454"/>
            <a:ext cx="17297399" cy="533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Inter"/>
              </a:rPr>
              <a:t>Coverage holds on unseen blocks — and one site fails, visibly</a:t>
            </a:r>
          </a:p>
        </p:txBody>
      </p:sp>
      <p:sp>
        <p:nvSpPr>
          <p:cNvPr id="18" name="sylva-text-15"/>
          <p:cNvSpPr txBox="1"/>
          <p:nvPr/>
        </p:nvSpPr>
        <p:spPr>
          <a:xfrm>
            <a:off x="935735" y="7913116"/>
            <a:ext cx="17297399" cy="863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C65C"/>
                </a:solidFill>
                <a:latin typeface="Inter"/>
              </a:rPr>
              <a:t>41.6%  →  0.01%</a:t>
            </a:r>
          </a:p>
        </p:txBody>
      </p:sp>
      <p:sp>
        <p:nvSpPr>
          <p:cNvPr id="19" name="sylva-text-16"/>
          <p:cNvSpPr txBox="1"/>
          <p:nvPr/>
        </p:nvSpPr>
        <p:spPr>
          <a:xfrm>
            <a:off x="935735" y="8661653"/>
            <a:ext cx="17297399" cy="533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Inter"/>
              </a:rPr>
              <a:t>A 365-day window was confirming a national park as cleared.</a:t>
            </a:r>
          </a:p>
        </p:txBody>
      </p:sp>
      <p:sp>
        <p:nvSpPr>
          <p:cNvPr id="20" name="sylva-text-17"/>
          <p:cNvSpPr txBox="1"/>
          <p:nvPr/>
        </p:nvSpPr>
        <p:spPr>
          <a:xfrm>
            <a:off x="935735" y="8991854"/>
            <a:ext cx="17297399" cy="533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Inter"/>
              </a:rPr>
              <a:t>Persistence is a question about time. The gate is now a span.</a:t>
            </a:r>
          </a:p>
        </p:txBody>
      </p:sp>
      <p:pic>
        <p:nvPicPr>
          <p:cNvPr id="21" name="sylva-diagram-slide4" descr="slid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8700" y="2413000"/>
            <a:ext cx="5969000" cy="3352800"/>
          </a:xfrm>
          <a:prstGeom prst="rect">
            <a:avLst/>
          </a:prstGeom>
          <a:ln w="9525">
            <a:solidFill>
              <a:srgbClr val="B6FAFF"/>
            </a:solidFill>
          </a:ln>
        </p:spPr>
      </p:pic>
      <p:pic>
        <p:nvPicPr>
          <p:cNvPr id="22" name="sylva-diagram-coverage" descr="cover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88700" y="5969000"/>
            <a:ext cx="5969000" cy="3352800"/>
          </a:xfrm>
          <a:prstGeom prst="rect">
            <a:avLst/>
          </a:prstGeom>
          <a:ln w="9525">
            <a:solidFill>
              <a:srgbClr val="B6FAFF"/>
            </a:solidFill>
          </a:ln>
        </p:spPr>
      </p:pic>
      <p:sp>
        <p:nvSpPr>
          <p:cNvPr id="23" name="sylva-text-20"/>
          <p:cNvSpPr txBox="1"/>
          <p:nvPr/>
        </p:nvSpPr>
        <p:spPr>
          <a:xfrm>
            <a:off x="910336" y="9612122"/>
            <a:ext cx="173228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Measured on 6 sites, 2024–2026 • 60 automated tests • Rondônia, Brazil</a:t>
            </a:r>
          </a:p>
        </p:txBody>
      </p:sp>
      <p:sp>
        <p:nvSpPr>
          <p:cNvPr id="24" name="sylva-text-21"/>
          <p:cNvSpPr txBox="1"/>
          <p:nvPr/>
        </p:nvSpPr>
        <p:spPr>
          <a:xfrm>
            <a:off x="17337786" y="9612122"/>
            <a:ext cx="8953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0048" y="954748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Architecture Diagram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  <p:sp>
        <p:nvSpPr>
          <p:cNvPr id="8" name="sylva-text-5"/>
          <p:cNvSpPr txBox="1"/>
          <p:nvPr/>
        </p:nvSpPr>
        <p:spPr>
          <a:xfrm>
            <a:off x="935735" y="1731263"/>
            <a:ext cx="17297399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Inter"/>
              </a:rPr>
              <a:t>One polygon. Three coordinated paths.</a:t>
            </a:r>
          </a:p>
        </p:txBody>
      </p:sp>
      <p:pic>
        <p:nvPicPr>
          <p:cNvPr id="9" name="sylva-diagram-slide5" descr="slid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6399" y="2514600"/>
            <a:ext cx="12395200" cy="6972300"/>
          </a:xfrm>
          <a:prstGeom prst="rect">
            <a:avLst/>
          </a:prstGeom>
          <a:ln w="9525">
            <a:solidFill>
              <a:srgbClr val="B6FAFF"/>
            </a:solidFill>
          </a:ln>
        </p:spPr>
      </p:pic>
      <p:sp>
        <p:nvSpPr>
          <p:cNvPr id="10" name="sylva-text-7"/>
          <p:cNvSpPr txBox="1"/>
          <p:nvPr/>
        </p:nvSpPr>
        <p:spPr>
          <a:xfrm>
            <a:off x="910336" y="9612122"/>
            <a:ext cx="173228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Planned architecture • Separate crown and regional scales • Biome labels: RESOLVE [9] • Every output retains date and model version</a:t>
            </a:r>
          </a:p>
        </p:txBody>
      </p:sp>
      <p:sp>
        <p:nvSpPr>
          <p:cNvPr id="11" name="sylva-text-8"/>
          <p:cNvSpPr txBox="1"/>
          <p:nvPr/>
        </p:nvSpPr>
        <p:spPr>
          <a:xfrm>
            <a:off x="17337786" y="9612122"/>
            <a:ext cx="8953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81050" y="829687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 stack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  <p:sp>
        <p:nvSpPr>
          <p:cNvPr id="8" name="sylva-text-5"/>
          <p:cNvSpPr txBox="1"/>
          <p:nvPr/>
        </p:nvSpPr>
        <p:spPr>
          <a:xfrm>
            <a:off x="961136" y="2276119"/>
            <a:ext cx="1727200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DATA</a:t>
            </a:r>
          </a:p>
        </p:txBody>
      </p:sp>
      <p:sp>
        <p:nvSpPr>
          <p:cNvPr id="9" name="sylva-text-6"/>
          <p:cNvSpPr txBox="1"/>
          <p:nvPr/>
        </p:nvSpPr>
        <p:spPr>
          <a:xfrm>
            <a:off x="961136" y="2695194"/>
            <a:ext cx="17272000" cy="787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Inter"/>
              </a:rPr>
              <a:t>Earth Engine · Planetary Computer · GEDI</a:t>
            </a:r>
          </a:p>
        </p:txBody>
      </p:sp>
      <p:sp>
        <p:nvSpPr>
          <p:cNvPr id="10" name="sylva-text-7"/>
          <p:cNvSpPr txBox="1"/>
          <p:nvPr/>
        </p:nvSpPr>
        <p:spPr>
          <a:xfrm>
            <a:off x="961136" y="3495319"/>
            <a:ext cx="1727200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PREPARE</a:t>
            </a:r>
          </a:p>
        </p:txBody>
      </p:sp>
      <p:sp>
        <p:nvSpPr>
          <p:cNvPr id="11" name="sylva-text-8"/>
          <p:cNvSpPr txBox="1"/>
          <p:nvPr/>
        </p:nvSpPr>
        <p:spPr>
          <a:xfrm>
            <a:off x="961136" y="3914394"/>
            <a:ext cx="17272000" cy="787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Inter"/>
              </a:rPr>
              <a:t>Rasterio · GDAL · GeoPandas · odc-stac</a:t>
            </a:r>
          </a:p>
        </p:txBody>
      </p:sp>
      <p:sp>
        <p:nvSpPr>
          <p:cNvPr id="12" name="sylva-text-9"/>
          <p:cNvSpPr txBox="1"/>
          <p:nvPr/>
        </p:nvSpPr>
        <p:spPr>
          <a:xfrm>
            <a:off x="961136" y="4714519"/>
            <a:ext cx="1727200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MODEL</a:t>
            </a:r>
          </a:p>
        </p:txBody>
      </p:sp>
      <p:sp>
        <p:nvSpPr>
          <p:cNvPr id="13" name="sylva-text-10"/>
          <p:cNvSpPr txBox="1"/>
          <p:nvPr/>
        </p:nvSpPr>
        <p:spPr>
          <a:xfrm>
            <a:off x="961136" y="5133594"/>
            <a:ext cx="17272000" cy="787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Inter"/>
              </a:rPr>
              <a:t>PyTorch · Mask2Former · split conformal</a:t>
            </a:r>
          </a:p>
        </p:txBody>
      </p:sp>
      <p:sp>
        <p:nvSpPr>
          <p:cNvPr id="14" name="sylva-text-11"/>
          <p:cNvSpPr txBox="1"/>
          <p:nvPr/>
        </p:nvSpPr>
        <p:spPr>
          <a:xfrm>
            <a:off x="961136" y="5933719"/>
            <a:ext cx="1727200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SERVE</a:t>
            </a:r>
          </a:p>
        </p:txBody>
      </p:sp>
      <p:sp>
        <p:nvSpPr>
          <p:cNvPr id="15" name="sylva-text-12"/>
          <p:cNvSpPr txBox="1"/>
          <p:nvPr/>
        </p:nvSpPr>
        <p:spPr>
          <a:xfrm>
            <a:off x="961136" y="6352794"/>
            <a:ext cx="17272000" cy="787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Inter"/>
              </a:rPr>
              <a:t>FastAPI · Redis / Celery · Docker</a:t>
            </a:r>
          </a:p>
        </p:txBody>
      </p:sp>
      <p:sp>
        <p:nvSpPr>
          <p:cNvPr id="16" name="sylva-text-13"/>
          <p:cNvSpPr txBox="1"/>
          <p:nvPr/>
        </p:nvSpPr>
        <p:spPr>
          <a:xfrm>
            <a:off x="961136" y="7152919"/>
            <a:ext cx="1727200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EXPLORE</a:t>
            </a:r>
          </a:p>
        </p:txBody>
      </p:sp>
      <p:sp>
        <p:nvSpPr>
          <p:cNvPr id="17" name="sylva-text-14"/>
          <p:cNvSpPr txBox="1"/>
          <p:nvPr/>
        </p:nvSpPr>
        <p:spPr>
          <a:xfrm>
            <a:off x="961136" y="7571994"/>
            <a:ext cx="17272000" cy="787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Inter"/>
              </a:rPr>
              <a:t>TiTiler · Mapbox GL JS · deck.gl</a:t>
            </a:r>
          </a:p>
        </p:txBody>
      </p:sp>
      <p:sp>
        <p:nvSpPr>
          <p:cNvPr id="18" name="sylva-text-15"/>
          <p:cNvSpPr txBox="1"/>
          <p:nvPr/>
        </p:nvSpPr>
        <p:spPr>
          <a:xfrm>
            <a:off x="961136" y="8372601"/>
            <a:ext cx="17272000" cy="584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Inter"/>
              </a:rPr>
              <a:t>Windowed COG reads. Cached reports.</a:t>
            </a:r>
          </a:p>
        </p:txBody>
      </p:sp>
      <p:sp>
        <p:nvSpPr>
          <p:cNvPr id="19" name="sylva-text-16"/>
          <p:cNvSpPr txBox="1"/>
          <p:nvPr/>
        </p:nvSpPr>
        <p:spPr>
          <a:xfrm>
            <a:off x="961136" y="8793479"/>
            <a:ext cx="172720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B6FAFF"/>
                </a:solidFill>
                <a:latin typeface="Inter"/>
              </a:rPr>
              <a:t>Cold report 151–222 s · cached 3–23 ms</a:t>
            </a:r>
          </a:p>
        </p:txBody>
      </p:sp>
      <p:sp>
        <p:nvSpPr>
          <p:cNvPr id="20" name="sylva-text-17"/>
          <p:cNvSpPr txBox="1"/>
          <p:nvPr/>
        </p:nvSpPr>
        <p:spPr>
          <a:xfrm>
            <a:off x="961136" y="9123679"/>
            <a:ext cx="172720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B6FAFF"/>
                </a:solidFill>
                <a:latin typeface="Inter"/>
              </a:rPr>
              <a:t>7 sources, each free to fail alone</a:t>
            </a:r>
          </a:p>
        </p:txBody>
      </p:sp>
      <p:pic>
        <p:nvPicPr>
          <p:cNvPr id="21" name="sylva-diagram-stack6" descr="stack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2599" y="2476499"/>
            <a:ext cx="5969000" cy="3352800"/>
          </a:xfrm>
          <a:prstGeom prst="rect">
            <a:avLst/>
          </a:prstGeom>
          <a:ln w="9525">
            <a:solidFill>
              <a:srgbClr val="B6FAFF"/>
            </a:solidFill>
          </a:ln>
        </p:spPr>
      </p:pic>
      <p:pic>
        <p:nvPicPr>
          <p:cNvPr id="22" name="sylva-diagram-convergence" descr="converge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2599" y="6019800"/>
            <a:ext cx="5969000" cy="3352800"/>
          </a:xfrm>
          <a:prstGeom prst="rect">
            <a:avLst/>
          </a:prstGeom>
          <a:ln w="9525">
            <a:solidFill>
              <a:srgbClr val="B6FAFF"/>
            </a:solidFill>
          </a:ln>
        </p:spPr>
      </p:pic>
      <p:sp>
        <p:nvSpPr>
          <p:cNvPr id="23" name="sylva-text-20"/>
          <p:cNvSpPr txBox="1"/>
          <p:nvPr/>
        </p:nvSpPr>
        <p:spPr>
          <a:xfrm>
            <a:off x="910336" y="9612122"/>
            <a:ext cx="173228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Prescribed stack, with task queues and COG tile serving added for practical inference [1,7,8]</a:t>
            </a:r>
          </a:p>
        </p:txBody>
      </p:sp>
      <p:sp>
        <p:nvSpPr>
          <p:cNvPr id="24" name="sylva-text-21"/>
          <p:cNvSpPr txBox="1"/>
          <p:nvPr/>
        </p:nvSpPr>
        <p:spPr>
          <a:xfrm>
            <a:off x="17337786" y="9612122"/>
            <a:ext cx="8953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0048" y="954748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b="true" sz="6999" spc="-349">
                <a:solidFill>
                  <a:srgbClr val="FEFEFF"/>
                </a:solidFill>
                <a:latin typeface="Inter Medium"/>
                <a:ea typeface="Inter Medium"/>
                <a:cs typeface="Inter Medium"/>
                <a:sym typeface="Inter Medium"/>
              </a:rPr>
              <a:t>Im</a:t>
            </a:r>
            <a:r>
              <a:rPr lang="en-US" b="true" sz="6999" spc="-349">
                <a:solidFill>
                  <a:srgbClr val="FEFEFF"/>
                </a:solidFill>
                <a:latin typeface="Inter Medium"/>
                <a:ea typeface="Inter Medium"/>
                <a:cs typeface="Inter Medium"/>
                <a:sym typeface="Inter Medium"/>
              </a:rPr>
              <a:t>pact &amp; Benefits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  <p:sp>
        <p:nvSpPr>
          <p:cNvPr id="8" name="sylva-text-5"/>
          <p:cNvSpPr txBox="1"/>
          <p:nvPr/>
        </p:nvSpPr>
        <p:spPr>
          <a:xfrm>
            <a:off x="935735" y="2318004"/>
            <a:ext cx="17297399" cy="1168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Inter"/>
              </a:rPr>
              <a:t>Evidence for</a:t>
            </a:r>
          </a:p>
        </p:txBody>
      </p:sp>
      <p:sp>
        <p:nvSpPr>
          <p:cNvPr id="9" name="sylva-text-6"/>
          <p:cNvSpPr txBox="1"/>
          <p:nvPr/>
        </p:nvSpPr>
        <p:spPr>
          <a:xfrm>
            <a:off x="935735" y="3029203"/>
            <a:ext cx="17297399" cy="1168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Inter"/>
              </a:rPr>
              <a:t>every forest decision.</a:t>
            </a:r>
          </a:p>
        </p:txBody>
      </p:sp>
      <p:sp>
        <p:nvSpPr>
          <p:cNvPr id="10" name="sylva-text-7"/>
          <p:cNvSpPr txBox="1"/>
          <p:nvPr/>
        </p:nvSpPr>
        <p:spPr>
          <a:xfrm>
            <a:off x="935735" y="4257319"/>
            <a:ext cx="17297399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FOREST TEAMS</a:t>
            </a:r>
          </a:p>
        </p:txBody>
      </p:sp>
      <p:sp>
        <p:nvSpPr>
          <p:cNvPr id="11" name="sylva-text-8"/>
          <p:cNvSpPr txBox="1"/>
          <p:nvPr/>
        </p:nvSpPr>
        <p:spPr>
          <a:xfrm>
            <a:off x="935735" y="4649724"/>
            <a:ext cx="172973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nter"/>
              </a:rPr>
              <a:t>Prioritise persistent loss alerts</a:t>
            </a:r>
          </a:p>
        </p:txBody>
      </p:sp>
      <p:sp>
        <p:nvSpPr>
          <p:cNvPr id="12" name="sylva-text-9"/>
          <p:cNvSpPr txBox="1"/>
          <p:nvPr/>
        </p:nvSpPr>
        <p:spPr>
          <a:xfrm>
            <a:off x="935735" y="5097779"/>
            <a:ext cx="17297399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Inter"/>
              </a:rPr>
              <a:t>Confirmed and provisional kept apart</a:t>
            </a:r>
          </a:p>
        </p:txBody>
      </p:sp>
      <p:sp>
        <p:nvSpPr>
          <p:cNvPr id="13" name="sylva-text-10"/>
          <p:cNvSpPr txBox="1"/>
          <p:nvPr/>
        </p:nvSpPr>
        <p:spPr>
          <a:xfrm>
            <a:off x="935735" y="5578119"/>
            <a:ext cx="17297399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RESTORATION TEAMS</a:t>
            </a:r>
          </a:p>
        </p:txBody>
      </p:sp>
      <p:sp>
        <p:nvSpPr>
          <p:cNvPr id="14" name="sylva-text-11"/>
          <p:cNvSpPr txBox="1"/>
          <p:nvPr/>
        </p:nvSpPr>
        <p:spPr>
          <a:xfrm>
            <a:off x="935735" y="5970523"/>
            <a:ext cx="172973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nter"/>
              </a:rPr>
              <a:t>Track canopy and biomass trends</a:t>
            </a:r>
          </a:p>
        </p:txBody>
      </p:sp>
      <p:sp>
        <p:nvSpPr>
          <p:cNvPr id="15" name="sylva-text-12"/>
          <p:cNvSpPr txBox="1"/>
          <p:nvPr/>
        </p:nvSpPr>
        <p:spPr>
          <a:xfrm>
            <a:off x="935735" y="6418579"/>
            <a:ext cx="17297399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Inter"/>
              </a:rPr>
              <a:t>Against a measured 2020 baseline</a:t>
            </a:r>
          </a:p>
        </p:txBody>
      </p:sp>
      <p:sp>
        <p:nvSpPr>
          <p:cNvPr id="16" name="sylva-text-13"/>
          <p:cNvSpPr txBox="1"/>
          <p:nvPr/>
        </p:nvSpPr>
        <p:spPr>
          <a:xfrm>
            <a:off x="935735" y="6898919"/>
            <a:ext cx="17297399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CARBON ANALYSTS</a:t>
            </a:r>
          </a:p>
        </p:txBody>
      </p:sp>
      <p:sp>
        <p:nvSpPr>
          <p:cNvPr id="17" name="sylva-text-14"/>
          <p:cNvSpPr txBox="1"/>
          <p:nvPr/>
        </p:nvSpPr>
        <p:spPr>
          <a:xfrm>
            <a:off x="935735" y="7291323"/>
            <a:ext cx="172973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nter"/>
              </a:rPr>
              <a:t>Trace stock change with its interval</a:t>
            </a:r>
          </a:p>
        </p:txBody>
      </p:sp>
      <p:sp>
        <p:nvSpPr>
          <p:cNvPr id="18" name="sylva-text-15"/>
          <p:cNvSpPr txBox="1"/>
          <p:nvPr/>
        </p:nvSpPr>
        <p:spPr>
          <a:xfrm>
            <a:off x="935735" y="7739380"/>
            <a:ext cx="17297399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Inter"/>
              </a:rPr>
              <a:t>Bias-adjusted area, not pixel counts</a:t>
            </a:r>
          </a:p>
        </p:txBody>
      </p:sp>
      <p:sp>
        <p:nvSpPr>
          <p:cNvPr id="19" name="sylva-text-16"/>
          <p:cNvSpPr txBox="1"/>
          <p:nvPr/>
        </p:nvSpPr>
        <p:spPr>
          <a:xfrm>
            <a:off x="935735" y="8219719"/>
            <a:ext cx="17297399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10" b="1">
                <a:solidFill>
                  <a:srgbClr val="B6FAFF"/>
                </a:solidFill>
                <a:latin typeface="Inter"/>
              </a:rPr>
              <a:t>COMPLIANCE TEAMS</a:t>
            </a:r>
          </a:p>
        </p:txBody>
      </p:sp>
      <p:sp>
        <p:nvSpPr>
          <p:cNvPr id="20" name="sylva-text-17"/>
          <p:cNvSpPr txBox="1"/>
          <p:nvPr/>
        </p:nvSpPr>
        <p:spPr>
          <a:xfrm>
            <a:off x="935735" y="8612124"/>
            <a:ext cx="172973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nter"/>
              </a:rPr>
              <a:t>Evidence for EUDR, due Dec 2026</a:t>
            </a:r>
          </a:p>
        </p:txBody>
      </p:sp>
      <p:sp>
        <p:nvSpPr>
          <p:cNvPr id="21" name="sylva-text-18"/>
          <p:cNvSpPr txBox="1"/>
          <p:nvPr/>
        </p:nvSpPr>
        <p:spPr>
          <a:xfrm>
            <a:off x="935735" y="9060180"/>
            <a:ext cx="17297399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Inter"/>
              </a:rPr>
              <a:t>ESA WorldCover 2020 is the cut-off layer</a:t>
            </a:r>
          </a:p>
        </p:txBody>
      </p:sp>
      <p:pic>
        <p:nvPicPr>
          <p:cNvPr id="22" name="sylva-diagram-slide7" descr="slide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8399" y="2717799"/>
            <a:ext cx="9956799" cy="6642100"/>
          </a:xfrm>
          <a:prstGeom prst="rect">
            <a:avLst/>
          </a:prstGeom>
          <a:ln w="9525">
            <a:solidFill>
              <a:srgbClr val="B6FAFF"/>
            </a:solidFill>
          </a:ln>
        </p:spPr>
      </p:pic>
      <p:sp>
        <p:nvSpPr>
          <p:cNvPr id="23" name="sylva-text-20"/>
          <p:cNvSpPr txBox="1"/>
          <p:nvPr/>
        </p:nvSpPr>
        <p:spPr>
          <a:xfrm>
            <a:off x="910336" y="9612122"/>
            <a:ext cx="173228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Stock change is not credited sequestration [10] • Field verification remains essential</a:t>
            </a:r>
          </a:p>
        </p:txBody>
      </p:sp>
      <p:sp>
        <p:nvSpPr>
          <p:cNvPr id="24" name="sylva-text-21"/>
          <p:cNvSpPr txBox="1"/>
          <p:nvPr/>
        </p:nvSpPr>
        <p:spPr>
          <a:xfrm>
            <a:off x="17337786" y="9612122"/>
            <a:ext cx="8953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090048" y="954748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Re</a:t>
            </a: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search &amp; References</a:t>
            </a:r>
          </a:p>
        </p:txBody>
      </p:sp>
      <p:sp>
        <p:nvSpPr>
          <p:cNvPr id="8" name="sylva-text-5"/>
          <p:cNvSpPr txBox="1"/>
          <p:nvPr/>
        </p:nvSpPr>
        <p:spPr>
          <a:xfrm>
            <a:off x="935735" y="2465324"/>
            <a:ext cx="172973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B6FAFF"/>
                </a:solidFill>
                <a:latin typeface="Inter"/>
              </a:rPr>
              <a:t>01</a:t>
            </a:r>
          </a:p>
        </p:txBody>
      </p:sp>
      <p:sp>
        <p:nvSpPr>
          <p:cNvPr id="9" name="sylva-text-6"/>
          <p:cNvSpPr txBox="1"/>
          <p:nvPr/>
        </p:nvSpPr>
        <p:spPr>
          <a:xfrm>
            <a:off x="1748535" y="2450846"/>
            <a:ext cx="16484599" cy="736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Inter"/>
              </a:rPr>
              <a:t>Official scope + submission rules</a:t>
            </a:r>
          </a:p>
        </p:txBody>
      </p:sp>
      <p:sp>
        <p:nvSpPr>
          <p:cNvPr id="10" name="sylva-text-7"/>
          <p:cNvSpPr txBox="1"/>
          <p:nvPr/>
        </p:nvSpPr>
        <p:spPr>
          <a:xfrm>
            <a:off x="1748535" y="3035071"/>
            <a:ext cx="16484599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ORION PS-03 · Microsoft Club SIST</a:t>
            </a:r>
          </a:p>
        </p:txBody>
      </p:sp>
      <p:sp>
        <p:nvSpPr>
          <p:cNvPr id="11" name="sylva-text-8"/>
          <p:cNvSpPr txBox="1"/>
          <p:nvPr/>
        </p:nvSpPr>
        <p:spPr>
          <a:xfrm>
            <a:off x="935735" y="3773424"/>
            <a:ext cx="172973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B6FAFF"/>
                </a:solidFill>
                <a:latin typeface="Inter"/>
              </a:rPr>
              <a:t>02</a:t>
            </a:r>
          </a:p>
        </p:txBody>
      </p:sp>
      <p:sp>
        <p:nvSpPr>
          <p:cNvPr id="12" name="sylva-text-9"/>
          <p:cNvSpPr txBox="1"/>
          <p:nvPr/>
        </p:nvSpPr>
        <p:spPr>
          <a:xfrm>
            <a:off x="1748535" y="3758946"/>
            <a:ext cx="16484599" cy="736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Inter"/>
              </a:rPr>
              <a:t>Satellite observations</a:t>
            </a:r>
          </a:p>
        </p:txBody>
      </p:sp>
      <p:sp>
        <p:nvSpPr>
          <p:cNvPr id="13" name="sylva-text-10"/>
          <p:cNvSpPr txBox="1"/>
          <p:nvPr/>
        </p:nvSpPr>
        <p:spPr>
          <a:xfrm>
            <a:off x="1748535" y="4343171"/>
            <a:ext cx="16484599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Sentinel-1 processing</a:t>
            </a:r>
          </a:p>
        </p:txBody>
      </p:sp>
      <p:sp>
        <p:nvSpPr>
          <p:cNvPr id="14" name="sylva-text-11"/>
          <p:cNvSpPr txBox="1"/>
          <p:nvPr/>
        </p:nvSpPr>
        <p:spPr>
          <a:xfrm>
            <a:off x="5266436" y="4343171"/>
            <a:ext cx="12966700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Sentinel-2 resolution</a:t>
            </a:r>
          </a:p>
        </p:txBody>
      </p:sp>
      <p:sp>
        <p:nvSpPr>
          <p:cNvPr id="15" name="sylva-text-12"/>
          <p:cNvSpPr txBox="1"/>
          <p:nvPr/>
        </p:nvSpPr>
        <p:spPr>
          <a:xfrm>
            <a:off x="935735" y="5081524"/>
            <a:ext cx="172973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B6FAFF"/>
                </a:solidFill>
                <a:latin typeface="Inter"/>
              </a:rPr>
              <a:t>03</a:t>
            </a:r>
          </a:p>
        </p:txBody>
      </p:sp>
      <p:sp>
        <p:nvSpPr>
          <p:cNvPr id="16" name="sylva-text-13"/>
          <p:cNvSpPr txBox="1"/>
          <p:nvPr/>
        </p:nvSpPr>
        <p:spPr>
          <a:xfrm>
            <a:off x="1748535" y="5067046"/>
            <a:ext cx="16484599" cy="736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Inter"/>
              </a:rPr>
              <a:t>Biomass reference targets</a:t>
            </a:r>
          </a:p>
        </p:txBody>
      </p:sp>
      <p:sp>
        <p:nvSpPr>
          <p:cNvPr id="17" name="sylva-text-14"/>
          <p:cNvSpPr txBox="1"/>
          <p:nvPr/>
        </p:nvSpPr>
        <p:spPr>
          <a:xfrm>
            <a:off x="1748535" y="5651271"/>
            <a:ext cx="16484599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NASA GEDI L4A · footprints + quality</a:t>
            </a:r>
          </a:p>
        </p:txBody>
      </p:sp>
      <p:sp>
        <p:nvSpPr>
          <p:cNvPr id="18" name="sylva-text-15"/>
          <p:cNvSpPr txBox="1"/>
          <p:nvPr/>
        </p:nvSpPr>
        <p:spPr>
          <a:xfrm>
            <a:off x="935735" y="6389624"/>
            <a:ext cx="172973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B6FAFF"/>
                </a:solidFill>
                <a:latin typeface="Inter"/>
              </a:rPr>
              <a:t>04</a:t>
            </a:r>
          </a:p>
        </p:txBody>
      </p:sp>
      <p:sp>
        <p:nvSpPr>
          <p:cNvPr id="19" name="sylva-text-16"/>
          <p:cNvSpPr txBox="1"/>
          <p:nvPr/>
        </p:nvSpPr>
        <p:spPr>
          <a:xfrm>
            <a:off x="1748535" y="6375146"/>
            <a:ext cx="16484599" cy="736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Inter"/>
              </a:rPr>
              <a:t>Crown-scale data</a:t>
            </a:r>
          </a:p>
        </p:txBody>
      </p:sp>
      <p:sp>
        <p:nvSpPr>
          <p:cNvPr id="20" name="sylva-text-17"/>
          <p:cNvSpPr txBox="1"/>
          <p:nvPr/>
        </p:nvSpPr>
        <p:spPr>
          <a:xfrm>
            <a:off x="1748535" y="6959371"/>
            <a:ext cx="16484599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NEON 0.1 m RGB</a:t>
            </a:r>
          </a:p>
        </p:txBody>
      </p:sp>
      <p:sp>
        <p:nvSpPr>
          <p:cNvPr id="21" name="sylva-text-18"/>
          <p:cNvSpPr txBox="1"/>
          <p:nvPr/>
        </p:nvSpPr>
        <p:spPr>
          <a:xfrm>
            <a:off x="4656836" y="6959371"/>
            <a:ext cx="13576300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NEON 1 m CHM</a:t>
            </a:r>
          </a:p>
        </p:txBody>
      </p:sp>
      <p:sp>
        <p:nvSpPr>
          <p:cNvPr id="22" name="sylva-text-19"/>
          <p:cNvSpPr txBox="1"/>
          <p:nvPr/>
        </p:nvSpPr>
        <p:spPr>
          <a:xfrm>
            <a:off x="935735" y="7697724"/>
            <a:ext cx="172973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B6FAFF"/>
                </a:solidFill>
                <a:latin typeface="Inter"/>
              </a:rPr>
              <a:t>05</a:t>
            </a:r>
          </a:p>
        </p:txBody>
      </p:sp>
      <p:sp>
        <p:nvSpPr>
          <p:cNvPr id="23" name="sylva-text-20"/>
          <p:cNvSpPr txBox="1"/>
          <p:nvPr/>
        </p:nvSpPr>
        <p:spPr>
          <a:xfrm>
            <a:off x="1748535" y="7683246"/>
            <a:ext cx="16484599" cy="736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Inter"/>
              </a:rPr>
              <a:t>Mask2Former + crown evidence</a:t>
            </a:r>
          </a:p>
        </p:txBody>
      </p:sp>
      <p:sp>
        <p:nvSpPr>
          <p:cNvPr id="24" name="sylva-text-21"/>
          <p:cNvSpPr txBox="1"/>
          <p:nvPr/>
        </p:nvSpPr>
        <p:spPr>
          <a:xfrm>
            <a:off x="1748535" y="8267471"/>
            <a:ext cx="16484599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Cheng et al., 2022</a:t>
            </a:r>
          </a:p>
        </p:txBody>
      </p:sp>
      <p:sp>
        <p:nvSpPr>
          <p:cNvPr id="25" name="sylva-text-22"/>
          <p:cNvSpPr txBox="1"/>
          <p:nvPr/>
        </p:nvSpPr>
        <p:spPr>
          <a:xfrm>
            <a:off x="4682236" y="8267471"/>
            <a:ext cx="13550899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Nakada et al., 2026 preprint</a:t>
            </a:r>
          </a:p>
        </p:txBody>
      </p:sp>
      <p:sp>
        <p:nvSpPr>
          <p:cNvPr id="26" name="sylva-text-23"/>
          <p:cNvSpPr txBox="1"/>
          <p:nvPr/>
        </p:nvSpPr>
        <p:spPr>
          <a:xfrm>
            <a:off x="9724136" y="2465324"/>
            <a:ext cx="8509000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B6FAFF"/>
                </a:solidFill>
                <a:latin typeface="Inter"/>
              </a:rPr>
              <a:t>06</a:t>
            </a:r>
          </a:p>
        </p:txBody>
      </p:sp>
      <p:sp>
        <p:nvSpPr>
          <p:cNvPr id="27" name="sylva-text-24"/>
          <p:cNvSpPr txBox="1"/>
          <p:nvPr/>
        </p:nvSpPr>
        <p:spPr>
          <a:xfrm>
            <a:off x="10536935" y="2450846"/>
            <a:ext cx="7696199" cy="736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Inter"/>
              </a:rPr>
              <a:t>Crown segmentation benchmark</a:t>
            </a:r>
          </a:p>
        </p:txBody>
      </p:sp>
      <p:sp>
        <p:nvSpPr>
          <p:cNvPr id="28" name="sylva-text-25"/>
          <p:cNvSpPr txBox="1"/>
          <p:nvPr/>
        </p:nvSpPr>
        <p:spPr>
          <a:xfrm>
            <a:off x="10536935" y="3035071"/>
            <a:ext cx="7696199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Detectree2 · Ball et al., 2023</a:t>
            </a:r>
          </a:p>
        </p:txBody>
      </p:sp>
      <p:sp>
        <p:nvSpPr>
          <p:cNvPr id="29" name="sylva-text-26"/>
          <p:cNvSpPr txBox="1"/>
          <p:nvPr/>
        </p:nvSpPr>
        <p:spPr>
          <a:xfrm>
            <a:off x="9724136" y="3773424"/>
            <a:ext cx="8509000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B6FAFF"/>
                </a:solidFill>
                <a:latin typeface="Inter"/>
              </a:rPr>
              <a:t>07</a:t>
            </a:r>
          </a:p>
        </p:txBody>
      </p:sp>
      <p:sp>
        <p:nvSpPr>
          <p:cNvPr id="30" name="sylva-text-27"/>
          <p:cNvSpPr txBox="1"/>
          <p:nvPr/>
        </p:nvSpPr>
        <p:spPr>
          <a:xfrm>
            <a:off x="10536935" y="3758946"/>
            <a:ext cx="7696199" cy="736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Inter"/>
              </a:rPr>
              <a:t>Quantile biomass regression</a:t>
            </a:r>
          </a:p>
        </p:txBody>
      </p:sp>
      <p:sp>
        <p:nvSpPr>
          <p:cNvPr id="31" name="sylva-text-28"/>
          <p:cNvSpPr txBox="1"/>
          <p:nvPr/>
        </p:nvSpPr>
        <p:spPr>
          <a:xfrm>
            <a:off x="10536935" y="4343171"/>
            <a:ext cx="7696199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XGBoost · official quantile objective</a:t>
            </a:r>
          </a:p>
        </p:txBody>
      </p:sp>
      <p:sp>
        <p:nvSpPr>
          <p:cNvPr id="32" name="sylva-text-29"/>
          <p:cNvSpPr txBox="1"/>
          <p:nvPr/>
        </p:nvSpPr>
        <p:spPr>
          <a:xfrm>
            <a:off x="9724136" y="5081524"/>
            <a:ext cx="8509000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B6FAFF"/>
                </a:solidFill>
                <a:latin typeface="Inter"/>
              </a:rPr>
              <a:t>08</a:t>
            </a:r>
          </a:p>
        </p:txBody>
      </p:sp>
      <p:sp>
        <p:nvSpPr>
          <p:cNvPr id="33" name="sylva-text-30"/>
          <p:cNvSpPr txBox="1"/>
          <p:nvPr/>
        </p:nvSpPr>
        <p:spPr>
          <a:xfrm>
            <a:off x="10536935" y="5067046"/>
            <a:ext cx="7696199" cy="736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Inter"/>
              </a:rPr>
              <a:t>Time series + raster serving</a:t>
            </a:r>
          </a:p>
        </p:txBody>
      </p:sp>
      <p:sp>
        <p:nvSpPr>
          <p:cNvPr id="34" name="sylva-text-31"/>
          <p:cNvSpPr txBox="1"/>
          <p:nvPr/>
        </p:nvSpPr>
        <p:spPr>
          <a:xfrm>
            <a:off x="10536935" y="5651271"/>
            <a:ext cx="7696199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Earth Engine CCDC</a:t>
            </a:r>
          </a:p>
        </p:txBody>
      </p:sp>
      <p:sp>
        <p:nvSpPr>
          <p:cNvPr id="35" name="sylva-text-32"/>
          <p:cNvSpPr txBox="1"/>
          <p:nvPr/>
        </p:nvSpPr>
        <p:spPr>
          <a:xfrm>
            <a:off x="13877036" y="5651271"/>
            <a:ext cx="4356100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TiTiler</a:t>
            </a:r>
          </a:p>
        </p:txBody>
      </p:sp>
      <p:sp>
        <p:nvSpPr>
          <p:cNvPr id="36" name="sylva-text-33"/>
          <p:cNvSpPr txBox="1"/>
          <p:nvPr/>
        </p:nvSpPr>
        <p:spPr>
          <a:xfrm>
            <a:off x="9724136" y="6389624"/>
            <a:ext cx="8509000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B6FAFF"/>
                </a:solidFill>
                <a:latin typeface="Inter"/>
              </a:rPr>
              <a:t>09</a:t>
            </a:r>
          </a:p>
        </p:txBody>
      </p:sp>
      <p:sp>
        <p:nvSpPr>
          <p:cNvPr id="37" name="sylva-text-34"/>
          <p:cNvSpPr txBox="1"/>
          <p:nvPr/>
        </p:nvSpPr>
        <p:spPr>
          <a:xfrm>
            <a:off x="10536935" y="6375146"/>
            <a:ext cx="7696199" cy="736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Inter"/>
              </a:rPr>
              <a:t>Biome labels</a:t>
            </a:r>
          </a:p>
        </p:txBody>
      </p:sp>
      <p:sp>
        <p:nvSpPr>
          <p:cNvPr id="38" name="sylva-text-35"/>
          <p:cNvSpPr txBox="1"/>
          <p:nvPr/>
        </p:nvSpPr>
        <p:spPr>
          <a:xfrm>
            <a:off x="10536935" y="6959371"/>
            <a:ext cx="7696199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RESOLVE ecoregions · Dinerstein et al., 2017</a:t>
            </a:r>
          </a:p>
        </p:txBody>
      </p:sp>
      <p:sp>
        <p:nvSpPr>
          <p:cNvPr id="39" name="sylva-text-36"/>
          <p:cNvSpPr txBox="1"/>
          <p:nvPr/>
        </p:nvSpPr>
        <p:spPr>
          <a:xfrm>
            <a:off x="9724136" y="7697724"/>
            <a:ext cx="8509000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B6FAFF"/>
                </a:solidFill>
                <a:latin typeface="Inter"/>
              </a:rPr>
              <a:t>10</a:t>
            </a:r>
          </a:p>
        </p:txBody>
      </p:sp>
      <p:sp>
        <p:nvSpPr>
          <p:cNvPr id="40" name="sylva-text-37"/>
          <p:cNvSpPr txBox="1"/>
          <p:nvPr/>
        </p:nvSpPr>
        <p:spPr>
          <a:xfrm>
            <a:off x="10536935" y="7683246"/>
            <a:ext cx="7696199" cy="736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Inter"/>
              </a:rPr>
              <a:t>Biomass-to-carbon formulation</a:t>
            </a:r>
          </a:p>
        </p:txBody>
      </p:sp>
      <p:sp>
        <p:nvSpPr>
          <p:cNvPr id="41" name="sylva-text-38"/>
          <p:cNvSpPr txBox="1"/>
          <p:nvPr/>
        </p:nvSpPr>
        <p:spPr>
          <a:xfrm>
            <a:off x="10536935" y="8267471"/>
            <a:ext cx="7696199" cy="535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10" b="0">
                <a:solidFill>
                  <a:srgbClr val="A6F7FF"/>
                </a:solidFill>
                <a:latin typeface="Inter"/>
              </a:rPr>
              <a:t>IPCC 2006 · Forest Land · Table 4.3</a:t>
            </a:r>
          </a:p>
        </p:txBody>
      </p:sp>
      <p:sp>
        <p:nvSpPr>
          <p:cNvPr id="42" name="sylva-text-39"/>
          <p:cNvSpPr txBox="1"/>
          <p:nvPr/>
        </p:nvSpPr>
        <p:spPr>
          <a:xfrm>
            <a:off x="910336" y="9612122"/>
            <a:ext cx="173228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Primary references • Accessed 20 September 2026 • Synthetic 3D illustrations • First results measured on 6 sites</a:t>
            </a:r>
          </a:p>
        </p:txBody>
      </p:sp>
      <p:sp>
        <p:nvSpPr>
          <p:cNvPr id="43" name="sylva-text-40"/>
          <p:cNvSpPr txBox="1"/>
          <p:nvPr/>
        </p:nvSpPr>
        <p:spPr>
          <a:xfrm>
            <a:off x="17337786" y="9612122"/>
            <a:ext cx="8953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9F3FC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DAHShe-n_sg</dc:identifier>
  <dcterms:modified xsi:type="dcterms:W3CDTF">2011-08-01T06:04:30Z</dcterms:modified>
  <cp:revision>1</cp:revision>
  <dc:title>ORION 1.0</dc:title>
</cp:coreProperties>
</file>