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26622" y="587084"/>
            <a:ext cx="10410483" cy="3180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520" b="1">
                <a:solidFill>
                  <a:srgbClr val="FFFFFF"/>
                </a:solidFill>
                <a:latin typeface="Segoe UI"/>
              </a:rPr>
              <a:t>ORION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19429" y="3527448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ID: ORION-PS-03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9429" y="4098946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Title: SylvaSense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9429" y="5241944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Name: Order of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9370" y="4670794"/>
            <a:ext cx="10017734" cy="8212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ID:  [ FILL THIS IN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9370" y="5918862"/>
            <a:ext cx="10017734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0">
                <a:solidFill>
                  <a:srgbClr val="B6FAFF"/>
                </a:solidFill>
                <a:latin typeface="Segoe UI"/>
              </a:rPr>
              <a:t>Live demo:  [ PASTE YOUR URL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053" y="1794928"/>
            <a:ext cx="6705583" cy="3776123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60207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SYLVASENSE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818483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From canopy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436548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to carbon.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336874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0">
                <a:solidFill>
                  <a:srgbClr val="FFFFFF"/>
                </a:solidFill>
                <a:latin typeface="Segoe UI"/>
              </a:rPr>
              <a:t>One polygon in. Four kinds of evidence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64370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B6FAFF"/>
                </a:solidFill>
                <a:latin typeface="Segoe UI"/>
              </a:rPr>
              <a:t>Every number carries its uncertainty.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4170144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332" y="4149672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Crown GeoJSON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32" y="4426192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Per-tree polygons, each with a confidence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468661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32" y="4666137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Spectral-toggle 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332" y="4942658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Optical, radar and structure in one 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67" y="5203075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332" y="5182603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Biomass + validation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332" y="5459123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Mg/ha with an interval that is checked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67" y="571954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332" y="5699068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Live polygon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332" y="5975589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Draw an area; evidence returns with its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17" y="2082794"/>
            <a:ext cx="5520252" cy="310725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289639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Three scales. One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974607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CROWNS  /  FINE AERIAL IMAGERY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253990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Mask2Former + Swin-S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621612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0.1 m NEON RGB, tiled and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2867483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Every mask checked against the canopy height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24460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BIOMASS  /  OPTICAL + SAR + LIDAR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523987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Gradient boosting +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3891608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GEDI footprints are the calibration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137480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Coverage measured on held-out ground, not assumed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51460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CHANGE  /  MULTI-YEAR OBSERVATIONS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4793984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Harmonic baseline + Bayesian confirmation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161605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A drop must persist before it is called a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407477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Below its power threshold the detector reports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67" y="5819633"/>
            <a:ext cx="11514637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AGB = Σ density × area     |     Aboveground carbon = AGB × CF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17124" y="242146"/>
            <a:ext cx="7619980" cy="118533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534" y="1154173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No single sensor is decisive.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5534" y="1585464"/>
            <a:ext cx="11531571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0">
                <a:solidFill>
                  <a:srgbClr val="F9F3FC"/>
                </a:solidFill>
                <a:latin typeface="Segoe UI"/>
              </a:rPr>
              <a:t>C-band and L-band radar, optical, lidar and three land-cover products.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1822530"/>
            <a:ext cx="11531571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0">
                <a:solidFill>
                  <a:srgbClr val="F9F3FC"/>
                </a:solidFill>
                <a:latin typeface="Segoe UI"/>
              </a:rPr>
              <a:t>Their errors are uncorrelated, which is what makes agreement mean anything.</a:t>
            </a:r>
          </a:p>
        </p:txBody>
      </p:sp>
      <p:pic>
        <p:nvPicPr>
          <p:cNvPr id="7" name="Picture 6" descr="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8" y="2218261"/>
            <a:ext cx="10871172" cy="3979323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88601" y="6408065"/>
            <a:ext cx="11548504" cy="304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Independent sensors, independent producers • three land-cover layers all derived from Sentinel-2 would agree and tell you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40207" y="6408065"/>
            <a:ext cx="596898" cy="304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916" y="2472260"/>
            <a:ext cx="5012254" cy="2819392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Measured on 6 sites, 2024–2026 • 60 automated tests • Rondônia,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355001"/>
            <a:ext cx="11531571" cy="7111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gates. Already passing.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11007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01   VERIFIED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38217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6 sites audited on 3 independent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726429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2 of 5 candidates failed the audit and were rejected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22767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02   EARNED THE MODEL 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499772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Spatially-blocked folds, never a random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844026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Neighbouring footprints are one observation, not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345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03   MEASURED THE TRADE-OFFS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617369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False positives on primary forest: 0.01–0.02%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961623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Coverage holds on unseen blocks — and one site fails, visibly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275397"/>
            <a:ext cx="11531571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1">
                <a:solidFill>
                  <a:srgbClr val="FFC65C"/>
                </a:solidFill>
                <a:latin typeface="Segoe UI"/>
              </a:rPr>
              <a:t>41.6%  →  0.01%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774421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A 365-day window was confirming a national park as cleared.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994554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Persistence is a question about time. The gate is now a 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52590" y="242146"/>
            <a:ext cx="7484514" cy="118533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534" y="1154173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Every number carries its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5534" y="1585464"/>
            <a:ext cx="11531571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0">
                <a:solidFill>
                  <a:srgbClr val="F9F3FC"/>
                </a:solidFill>
                <a:latin typeface="Segoe UI"/>
              </a:rPr>
              <a:t>And the interval on it is measured on ground the model never saw — including where it fails.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5341437"/>
            <a:ext cx="11531571" cy="4063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B6FAFF"/>
                </a:solidFill>
                <a:latin typeface="Segoe UI"/>
              </a:rPr>
              <a:t>One value, everything needed to audit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5638955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9F3FC"/>
                </a:solidFill>
                <a:latin typeface="Segoe UI"/>
              </a:rPr>
              <a:t>Sensor, window, method, interval and the count of independent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5859088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9F3FC"/>
                </a:solidFill>
                <a:latin typeface="Segoe UI"/>
              </a:rPr>
              <a:t>sources travel with the number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53" y="5341437"/>
            <a:ext cx="5825052" cy="4063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B6FAFF"/>
                </a:solidFill>
                <a:latin typeface="Segoe UI"/>
              </a:rPr>
              <a:t>Five of six sites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53" y="5638955"/>
            <a:ext cx="5825052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9F3FC"/>
                </a:solidFill>
                <a:latin typeface="Segoe UI"/>
              </a:rPr>
              <a:t>The wet-season interfluve reaches 0.74 against a nominal 0.90,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2053" y="5859088"/>
            <a:ext cx="5825052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9F3FC"/>
                </a:solidFill>
                <a:latin typeface="Segoe UI"/>
              </a:rPr>
              <a:t>and the product says so rather than hiding it.</a:t>
            </a:r>
          </a:p>
        </p:txBody>
      </p:sp>
      <p:pic>
        <p:nvPicPr>
          <p:cNvPr id="12" name="Picture 11" descr="prove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8" y="2218261"/>
            <a:ext cx="5333986" cy="2997192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13" name="Picture 12" descr="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7" y="2218261"/>
            <a:ext cx="5164653" cy="290405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88601" y="6408065"/>
            <a:ext cx="11548504" cy="304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Provenance envelope • split-conformal coverage on held-out spatial blocks • one of six sites does not pass, and is shown not passing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40207" y="6408065"/>
            <a:ext cx="596898" cy="304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261" y="1676395"/>
            <a:ext cx="8263446" cy="464818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154173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One polygon. Three coordinated paths.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784" y="1659462"/>
            <a:ext cx="5723452" cy="3818457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932492" y="158923"/>
            <a:ext cx="8204613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Prescribed stack, with task queues and COG tile serving added for practical inference [1,7,8]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467" y="1517409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467" y="1796791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Earth Engine · Planetary Computer · GEDI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467" y="2330207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467" y="2609589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Rasterio · GDAL · GeoPandas · odc-stac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467" y="3143005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3422387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PyTorch · Mask2Former · split conformal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67" y="3955803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67" y="4235185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FastAPI · Redis / Celery ·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4768601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67" y="5047983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TiTiler · Mapbox GL JS · deck.gl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67" y="5581720"/>
            <a:ext cx="11514637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FFFFFF"/>
                </a:solidFill>
                <a:latin typeface="Segoe UI"/>
              </a:rPr>
              <a:t>Windowed COG reads. Cached reports.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67" y="5862305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Cold report 151–222 s · cached 3–23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467" y="6082438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7 sources, each free to fail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2254" y="1811862"/>
            <a:ext cx="6637850" cy="4428055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EFEFF"/>
                </a:solidFill>
                <a:latin typeface="Segoe UI"/>
              </a:rPr>
              <a:t>Impact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Stock change is not credited sequestration [10] • Field verification remains essential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545332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Evidence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019464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every forest decision.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83820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FOREST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099808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Prioritise persistent loss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398511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Confirmed and provisional kept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718736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RESTORATION 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980339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Track canopy and biomass trends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279042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Against a measured 2020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599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CARBON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860870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Trace stock change with its interval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159573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Bias-adjusted area, not pixel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479799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COMPLIANCE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741401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Evidence for EUDR, due Dec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534" y="6040104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ESA WorldCover 2020 is the cut-off layer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 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295" y="1644853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046" y="1633974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Official scope + submission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046" y="2027518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ORION PS-03 · Microsoft Club SIST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295" y="2517188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046" y="2506297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Satellite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374" y="2899525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Sentinel-1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2640" y="2899525"/>
            <a:ext cx="8644465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Sentinel-2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95" y="3389196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046" y="3378305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 reference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046" y="3771849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NASA GEDI L4A · footprints +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295" y="4261204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046" y="4250312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Crown-scale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374" y="4643857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0.1 m RGB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6242" y="4643857"/>
            <a:ext cx="905086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1 m CHM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295" y="5133211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046" y="5122320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Mask2Former + crown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046" y="5515864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Cheng et al.,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3198" y="5515864"/>
            <a:ext cx="9033907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Nakada et al., 2026 preprint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143" y="1644853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5905" y="1633974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 segmentation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5905" y="2027518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Detectree2 · Ball et al., 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143" y="2517188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5905" y="2506297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Quantile biomass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5905" y="2899525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XGBoost · official quantile objective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143" y="3389196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5905" y="3378305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Time series + raster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6221" y="3771849"/>
            <a:ext cx="513088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Earth Engine CCDC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775" y="3771849"/>
            <a:ext cx="2904330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TiTiler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143" y="4261204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5905" y="4250312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Biome labels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5905" y="4643857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RESOLVE ecoregions · Dinerstein et al., 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143" y="5133211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5905" y="5122320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Biomass-to-carbon formulation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5905" y="5515864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IPCC 2006 · Forest Land · Table 4.3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