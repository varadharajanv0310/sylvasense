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26622" y="587084"/>
            <a:ext cx="10410483" cy="318096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520" b="1">
                <a:solidFill>
                  <a:srgbClr val="FFFFFF"/>
                </a:solidFill>
                <a:latin typeface="Segoe UI"/>
              </a:rPr>
              <a:t>ORION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19429" y="3527448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ID: ORION-PS-03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9429" y="4098946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Problem Statement Title: SylvaSense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19429" y="5241944"/>
            <a:ext cx="10017675" cy="8209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Name: Order of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9370" y="4670794"/>
            <a:ext cx="10017734" cy="8212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229" b="0">
                <a:solidFill>
                  <a:srgbClr val="FFFFFF"/>
                </a:solidFill>
                <a:latin typeface="Segoe UI"/>
              </a:rPr>
              <a:t>Team ID:  [ FILL THIS IN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19370" y="5918862"/>
            <a:ext cx="10017734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0">
                <a:solidFill>
                  <a:srgbClr val="B6FAFF"/>
                </a:solidFill>
                <a:latin typeface="Segoe UI"/>
              </a:rPr>
              <a:t>Live demo:  [ PASTE YOUR URL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160207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SYLVASENSE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818483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From canopy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436548"/>
            <a:ext cx="11531571" cy="10346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070" b="1">
                <a:solidFill>
                  <a:srgbClr val="FFFFFF"/>
                </a:solidFill>
                <a:latin typeface="Segoe UI"/>
              </a:rPr>
              <a:t>to carbon.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3336874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0">
                <a:solidFill>
                  <a:srgbClr val="FFFFFF"/>
                </a:solidFill>
                <a:latin typeface="Segoe UI"/>
              </a:rPr>
              <a:t>One polygon in. Four kinds of evidence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64370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B6FAFF"/>
                </a:solidFill>
                <a:latin typeface="Segoe UI"/>
              </a:rPr>
              <a:t>Every number carries its uncertainty.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467" y="4170144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4332" y="4149672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Crown GeoJSON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332" y="4426192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Per-tree polygons, each with a confidence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67" y="468661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332" y="4666137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Spectral-toggle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4332" y="4942658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Optical, radar and structure in one frame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67" y="5203075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4332" y="5182603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Biomass + validation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332" y="5459123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Mg/ha with an interval that is checked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467" y="5719540"/>
            <a:ext cx="11514637" cy="42163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6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332" y="5699068"/>
            <a:ext cx="10972772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Live polygon inference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332" y="5975589"/>
            <a:ext cx="10972772" cy="3217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0" b="0">
                <a:solidFill>
                  <a:srgbClr val="F9F3FC"/>
                </a:solidFill>
                <a:latin typeface="Segoe UI"/>
              </a:rPr>
              <a:t>Draw an area; evidence returns with its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1289639"/>
            <a:ext cx="11531571" cy="6095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Segoe UI"/>
              </a:rPr>
              <a:t>Three scales. One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1974607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CROWNS  /  FINE AERIAL IMAGERY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253990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Mask2Former + Swin-S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621612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0.1 m NEON RGB, tiled and merged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2867483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Every mask checked against the canopy height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24460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BIOMASS  /  OPTICAL + SAR + LIDAR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523987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Gradient boosting + split conformal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3891608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GEDI footprints are the calibration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137480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Coverage measured on held-out ground,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51460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CHANGE  /  MULTI-YEAR OBSERVATIONS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4793984"/>
            <a:ext cx="11531571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Harmonic baseline + Bayesian confirmation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161605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A drop must persist before it is called a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407477"/>
            <a:ext cx="11531571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FFFFFF"/>
                </a:solidFill>
                <a:latin typeface="Segoe UI"/>
              </a:rPr>
              <a:t>Below its power threshold the detector reports nothing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467" y="5819633"/>
            <a:ext cx="11514637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AGB = Σ density × area     |     Aboveground carbon = AGB × CF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Measured on 6 sites, 2024–2026 • 60 automated tests • Rondônia, Brazil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1355001"/>
            <a:ext cx="11531571" cy="71119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gates. Already passing.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2110074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01   VERIFIED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382175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6 sites audited on 3 independent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2726429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2 of 5 candidates failed the audit and were rejected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227671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02   EARNED THE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499772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Spatially-blocked folds, never a random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844026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Neighbouring footprints are one observation, not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4345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03   MEASURED THE TRADE-OFFS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617369"/>
            <a:ext cx="11531571" cy="4741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False positives on primary forest: 0.01–0.02%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961623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Coverage holds on unseen blocks — and one site fails, visibly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5546330"/>
            <a:ext cx="11531571" cy="5757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70" b="1">
                <a:solidFill>
                  <a:srgbClr val="FFC65C"/>
                </a:solidFill>
                <a:latin typeface="Segoe UI"/>
              </a:rPr>
              <a:t>41.6%  →  0.01%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740554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A 365-day window was confirming a national park as cleared.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960687"/>
            <a:ext cx="11531571" cy="355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Segoe UI"/>
              </a:rPr>
              <a:t>Persistence is a question about time. The gate is now a span.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Architecture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295" y="1533827"/>
            <a:ext cx="11531809" cy="71104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One polygon. Three coordinated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5295" y="2367109"/>
            <a:ext cx="11531809" cy="3903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3920" y="2367109"/>
            <a:ext cx="8323184" cy="3903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QUALITY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58706" y="2367109"/>
            <a:ext cx="5478399" cy="3903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64764" y="2367109"/>
            <a:ext cx="2472341" cy="39039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295" y="2920630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NEON RGB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295" y="3194874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Airborne CHM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920" y="2920630"/>
            <a:ext cx="832318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Align + 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8706" y="2916279"/>
            <a:ext cx="5478399" cy="4742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Mask2Former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4764" y="2920630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Crown masks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4764" y="3194874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GeoJSON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295" y="3953597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S1 / S2 imagery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295" y="4227841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GEDI + plot targets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3920" y="3953597"/>
            <a:ext cx="832318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Match 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3920" y="4227841"/>
            <a:ext cx="832318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and footprints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8706" y="3949256"/>
            <a:ext cx="5478399" cy="4742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AGB regression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8706" y="4233739"/>
            <a:ext cx="5478399" cy="4742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Biome 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4764" y="3953597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AGB + biomes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4764" y="4227841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295" y="4986247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Dated satellite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295" y="5260491"/>
            <a:ext cx="11531809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observations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920" y="4986247"/>
            <a:ext cx="832318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Cloud + terrain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920" y="5260491"/>
            <a:ext cx="832318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quality masks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8706" y="4981906"/>
            <a:ext cx="5478399" cy="4742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Harmonic + Bayesian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8706" y="5266389"/>
            <a:ext cx="5478399" cy="47424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70" b="1">
                <a:solidFill>
                  <a:srgbClr val="FFFFFF"/>
                </a:solidFill>
                <a:latin typeface="Segoe UI"/>
              </a:rPr>
              <a:t>Persistence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4764" y="4986247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Loss heatmap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4764" y="5260491"/>
            <a:ext cx="2472341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Segoe UI"/>
              </a:rPr>
              <a:t>Carbon trend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251" y="6078424"/>
            <a:ext cx="1151485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FastAPI job queue  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6442" y="6078424"/>
            <a:ext cx="9030662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    COG + GeoJSON  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5379" y="6078424"/>
            <a:ext cx="6611726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    TiTiler  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9350" y="6078424"/>
            <a:ext cx="5237754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    Interactive map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17598" y="6110595"/>
            <a:ext cx="9219506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1099" y="6110595"/>
            <a:ext cx="6796006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18492" y="6110595"/>
            <a:ext cx="5418612" cy="456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932492" y="158923"/>
            <a:ext cx="8204613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Prescribed stack, with task queues and COG tile serving added for practical inference [1,7,8]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467" y="1517409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467" y="1796791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Earth Engine · Planetary Computer · GEDI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467" y="2330207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PREPARE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467" y="2609589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Rasterio · GDAL · GeoPandas · odc-stac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467" y="3143005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467" y="3422387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PyTorch · Mask2Former · split conformal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467" y="3955803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467" y="4235185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FastAPI · Redis / Celery ·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467" y="4768601"/>
            <a:ext cx="11514637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EXPLORE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467" y="5047983"/>
            <a:ext cx="11514637" cy="5249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70" b="1">
                <a:solidFill>
                  <a:srgbClr val="FFFFFF"/>
                </a:solidFill>
                <a:latin typeface="Segoe UI"/>
              </a:rPr>
              <a:t>TiTiler · Mapbox GL JS · deck.gl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467" y="5575286"/>
            <a:ext cx="11514637" cy="4233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70" b="1">
                <a:solidFill>
                  <a:srgbClr val="FFFFFF"/>
                </a:solidFill>
                <a:latin typeface="Segoe UI"/>
              </a:rPr>
              <a:t>Windowed COG reads. Cached reports. No GPU needed.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467" y="5957470"/>
            <a:ext cx="11514637" cy="3725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70" b="0">
                <a:solidFill>
                  <a:srgbClr val="B6FAFF"/>
                </a:solidFill>
                <a:latin typeface="Segoe UI"/>
              </a:rPr>
              <a:t>Cold report 151–222 s · cached 3–23 ms · 7 sources, each free to fail alone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1">
                <a:solidFill>
                  <a:srgbClr val="FEFEFF"/>
                </a:solidFill>
                <a:latin typeface="Segoe UI"/>
              </a:rP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Stock change is not credited sequestration [10] • Field verification remains essential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534" y="1545332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Evidence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534" y="2019464"/>
            <a:ext cx="11531571" cy="778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70" b="1">
                <a:solidFill>
                  <a:srgbClr val="FFFFFF"/>
                </a:solidFill>
                <a:latin typeface="Segoe UI"/>
              </a:rPr>
              <a:t>every forest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534" y="2838205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FOREST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534" y="3099808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Prioritise persistent loss alerts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5534" y="3398511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Confirmed and provisional kept apart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534" y="3718736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RESTORATION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534" y="3980339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Track canopy and biomass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534" y="4279042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Against a measured 2020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534" y="4599268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CARBON ANALYSTS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534" y="4860870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Trace stock change with its interval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534" y="5159573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Bias-adjusted area, not pixel counts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34" y="5479799"/>
            <a:ext cx="11531571" cy="3911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40" b="1">
                <a:solidFill>
                  <a:srgbClr val="B6FAFF"/>
                </a:solidFill>
                <a:latin typeface="Segoe UI"/>
              </a:rPr>
              <a:t>COMPLIANCE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34" y="5741401"/>
            <a:ext cx="11531571" cy="4402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FFFFFF"/>
                </a:solidFill>
                <a:latin typeface="Segoe UI"/>
              </a:rPr>
              <a:t>Evidence for EUDR, due Dec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534" y="6040104"/>
            <a:ext cx="11531571" cy="33866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30" b="0">
                <a:solidFill>
                  <a:srgbClr val="FFFFFF"/>
                </a:solidFill>
                <a:latin typeface="Segoe UI"/>
              </a:rPr>
              <a:t>ESA WorldCover 2020 is the cut-off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lat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38492" y="242297"/>
            <a:ext cx="8798612" cy="11852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70" b="0">
                <a:solidFill>
                  <a:srgbClr val="FFFFFF"/>
                </a:solidFill>
                <a:latin typeface="Segoe UI"/>
              </a:rPr>
              <a:t> 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5295" y="1644853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046" y="1633974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Official scope + submission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046" y="2027518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ORION PS-03 · Microsoft Club SIST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295" y="2517188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046" y="2506297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Satellite observations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374" y="2899525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Sentinel-1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2640" y="2899525"/>
            <a:ext cx="8644465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Sentinel-2 resolution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295" y="3389196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046" y="3378305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 reference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046" y="3771849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NASA GEDI L4A · footprints +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295" y="4261204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046" y="4250312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Crown-scale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374" y="4643857"/>
            <a:ext cx="10989731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0.1 m RGB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6242" y="4643857"/>
            <a:ext cx="905086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NEON 1 m CHM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295" y="5133211"/>
            <a:ext cx="11531809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046" y="5122320"/>
            <a:ext cx="10990058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Mask2Former + crown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046" y="5515864"/>
            <a:ext cx="10990058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Cheng et al., 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3198" y="5515864"/>
            <a:ext cx="9033907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Nakada et al., 2026 preprint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143" y="1644853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5905" y="1633974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Crown segmentation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5905" y="2027518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Detectree2 · Ball et al., 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143" y="2517188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5905" y="2506297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Quantile biomass regression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5905" y="2899525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XGBoost · official quantile objective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143" y="3389196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5905" y="3378305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Time series + raster serving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6221" y="3771849"/>
            <a:ext cx="5130883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Earth Engine CCDC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2775" y="3771849"/>
            <a:ext cx="2904330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TiTiler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143" y="4261204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5905" y="4250312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Biome labels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5905" y="4643857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RESOLVE ecoregions · Dinerstein et al., 2017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143" y="5133211"/>
            <a:ext cx="5672962" cy="4403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730" b="1">
                <a:solidFill>
                  <a:srgbClr val="B6FAFF"/>
                </a:solidFill>
                <a:latin typeface="Segoe U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5905" y="5122320"/>
            <a:ext cx="5131199" cy="4902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30" b="1">
                <a:solidFill>
                  <a:srgbClr val="FFFFFF"/>
                </a:solidFill>
                <a:latin typeface="Segoe UI"/>
              </a:rPr>
              <a:t>Biomass-to-carbon formulation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5905" y="5515864"/>
            <a:ext cx="5131199" cy="35648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6F7FF"/>
                </a:solidFill>
                <a:latin typeface="Segoe UI"/>
              </a:rPr>
              <a:t>IPCC 2006 · Forest Land · Table 4.3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8328" y="6408473"/>
            <a:ext cx="11548776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963" y="6408473"/>
            <a:ext cx="597142" cy="30464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F9F3FC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