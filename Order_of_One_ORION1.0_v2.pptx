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hyperlink" Target="https://sylvasense-orion.vercel.app" TargetMode="External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hyperlink" Target="https://sentiwiki.copernicus.eu/web/s1-processing" TargetMode="External"/><Relationship Id="rId8" Type="http://schemas.openxmlformats.org/officeDocument/2006/relationships/hyperlink" Target="https://sentiwiki.copernicus.eu/web/s2-products" TargetMode="External"/><Relationship Id="rId9" Type="http://schemas.openxmlformats.org/officeDocument/2006/relationships/hyperlink" Target="https://daac.ornl.gov/cgi-bin/dsviewer.pl?ds_id=2299" TargetMode="External"/><Relationship Id="rId10" Type="http://schemas.openxmlformats.org/officeDocument/2006/relationships/hyperlink" Target="https://data.neonscience.org/data-products/DP3.30010.001" TargetMode="External"/><Relationship Id="rId11" Type="http://schemas.openxmlformats.org/officeDocument/2006/relationships/hyperlink" Target="https://data.neonscience.org/data-products/DP3.30015.001" TargetMode="External"/><Relationship Id="rId12" Type="http://schemas.openxmlformats.org/officeDocument/2006/relationships/hyperlink" Target="https://arxiv.org/abs/2112.01527" TargetMode="External"/><Relationship Id="rId13" Type="http://schemas.openxmlformats.org/officeDocument/2006/relationships/hyperlink" Target="https://github.com/PatBall1/detectree2" TargetMode="External"/><Relationship Id="rId14" Type="http://schemas.openxmlformats.org/officeDocument/2006/relationships/hyperlink" Target="https://xgboost.readthedocs.io/en/stable/parameter.html" TargetMode="External"/><Relationship Id="rId15" Type="http://schemas.openxmlformats.org/officeDocument/2006/relationships/hyperlink" Target="https://developers.google.com/earth-engine/apidocs/ee-algorithms-temporalsegmentation-ccdc" TargetMode="External"/><Relationship Id="rId16" Type="http://schemas.openxmlformats.org/officeDocument/2006/relationships/hyperlink" Target="https://developmentseed.org/titiler/" TargetMode="External"/><Relationship Id="rId17" Type="http://schemas.openxmlformats.org/officeDocument/2006/relationships/hyperlink" Target="https://doi.org/10.1093/biosci/bix014" TargetMode="External"/><Relationship Id="rId18" Type="http://schemas.openxmlformats.org/officeDocument/2006/relationships/hyperlink" Target="https://www.ipcc-nggip.iges.or.jp/public/2006gl/pdf/4_Volume4/V4_04_Ch4_Forest_Land.pdf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6128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1773936" y="6097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1773936" y="65123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68140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73936" y="67833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1773936" y="71981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74998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73936" y="74691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1773936" y="78839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61136" y="8185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73936" y="8154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73936" y="8569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935735" y="9039097"/>
            <a:ext cx="17297399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B6FAFF"/>
                </a:solidFill>
                <a:latin typeface="Inter"/>
                <a:hlinkClick r:id="rId7"/>
              </a:rPr>
              <a:t>Live demo  →  sylvasense-orion.vercel.app</a:t>
            </a:r>
          </a:p>
        </p:txBody>
      </p:sp>
      <p:pic>
        <p:nvPicPr>
          <p:cNvPr id="26" name="sylva-diagram-slide2" descr="slid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7" name="sylva-diagram-provenance" descr="prove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8" name="sylva-text-25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sylva-diagram-slide3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sylva-diagram-slide4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verage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sylva-diagram-slide5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sylva-text-7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sylva-diagram-stack6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nvergence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sylva-diagram-slide7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sylva-text-5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7"/>
              </a:rPr>
              <a:t>Sentinel-1 processing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8"/>
              </a:rPr>
              <a:t>Sentinel-2 resolution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9"/>
              </a:rPr>
              <a:t>NASA GEDI L4A · footprints + quality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0"/>
              </a:rPr>
              <a:t>NEON 0.1 m RGB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1"/>
              </a:rPr>
              <a:t>NEON 1 m CHM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2"/>
              </a:rPr>
              <a:t>Cheng et al., 2022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sylva-text-23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sylva-text-24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3"/>
              </a:rPr>
              <a:t>Detectree2 · Ball et al., 2023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sylva-text-27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sylva-text-28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4"/>
              </a:rPr>
              <a:t>XGBoost · official quantile objective</a:t>
            </a:r>
          </a:p>
        </p:txBody>
      </p:sp>
      <p:sp>
        <p:nvSpPr>
          <p:cNvPr id="32" name="sylva-text-29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sylva-text-30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sylva-text-31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5"/>
              </a:rPr>
              <a:t>Earth Engine CCDC</a:t>
            </a:r>
          </a:p>
        </p:txBody>
      </p:sp>
      <p:sp>
        <p:nvSpPr>
          <p:cNvPr id="35" name="sylva-text-32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6"/>
              </a:rPr>
              <a:t>TiTiler</a:t>
            </a:r>
          </a:p>
        </p:txBody>
      </p:sp>
      <p:sp>
        <p:nvSpPr>
          <p:cNvPr id="36" name="sylva-text-33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sylva-text-34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sylva-text-35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7"/>
              </a:rPr>
              <a:t>RESOLVE ecoregions · Dinerstein et al., 2017</a:t>
            </a:r>
          </a:p>
        </p:txBody>
      </p:sp>
      <p:sp>
        <p:nvSpPr>
          <p:cNvPr id="39" name="sylva-text-36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sylva-text-37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sylva-text-38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8"/>
              </a:rPr>
              <a:t>IPCC 2006 · Forest Land · Table 4.3</a:t>
            </a:r>
          </a:p>
        </p:txBody>
      </p:sp>
      <p:sp>
        <p:nvSpPr>
          <p:cNvPr id="42" name="sylva-text-3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sylva-text-4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