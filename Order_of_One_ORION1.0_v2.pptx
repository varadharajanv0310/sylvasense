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26622" y="587084"/>
            <a:ext cx="10410483" cy="318096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520" b="1">
                <a:solidFill>
                  <a:srgbClr val="FFFFFF"/>
                </a:solidFill>
                <a:latin typeface="Segoe UI"/>
              </a:rPr>
              <a:t>ORION 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19429" y="3527448"/>
            <a:ext cx="10017675" cy="8209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Problem Statement ID: ORION-PS-03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9429" y="4098946"/>
            <a:ext cx="10017675" cy="8209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Problem Statement Title: SylvaSense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19429" y="5241944"/>
            <a:ext cx="10017675" cy="8209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Team Name: Order of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9370" y="4670794"/>
            <a:ext cx="10017734" cy="8212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Team ID:  [ FILL THIS IN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19370" y="5918862"/>
            <a:ext cx="10017734" cy="5757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70" b="0">
                <a:solidFill>
                  <a:srgbClr val="B6FAFF"/>
                </a:solidFill>
                <a:latin typeface="Segoe UI"/>
              </a:rPr>
              <a:t>Live demo:  [ PASTE YOUR URL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516" y="1650995"/>
            <a:ext cx="3894656" cy="2184394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4" name="Picture 3" descr="proven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516" y="3962390"/>
            <a:ext cx="3894656" cy="2184394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1">
                <a:solidFill>
                  <a:srgbClr val="FFFFFF"/>
                </a:solidFill>
                <a:latin typeface="Segoe UI"/>
              </a:rP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Four outputs from one request • Crown-scale aerial imagery + regional satellite monitoring • Live system, first results on 6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1602075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SYLVASENSE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1818483"/>
            <a:ext cx="11531571" cy="1034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070" b="1">
                <a:solidFill>
                  <a:srgbClr val="FFFFFF"/>
                </a:solidFill>
                <a:latin typeface="Segoe UI"/>
              </a:rPr>
              <a:t>From canopy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2436548"/>
            <a:ext cx="11531571" cy="1034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070" b="1">
                <a:solidFill>
                  <a:srgbClr val="FFFFFF"/>
                </a:solidFill>
                <a:latin typeface="Segoe UI"/>
              </a:rPr>
              <a:t>to carbon.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3336874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0">
                <a:solidFill>
                  <a:srgbClr val="FFFFFF"/>
                </a:solidFill>
                <a:latin typeface="Segoe UI"/>
              </a:rPr>
              <a:t>One polygon in. Four kinds of evidence 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643705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B6FAFF"/>
                </a:solidFill>
                <a:latin typeface="Segoe UI"/>
              </a:rPr>
              <a:t>Every number carries its uncertainty.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467" y="4170144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332" y="4149672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Crown GeoJSON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332" y="4426192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Per-tree polygons, each with a confidence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67" y="4686610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332" y="4666137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Spectral-toggle 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4332" y="4942658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Optical, radar and structure in one frame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467" y="5203075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332" y="5182603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Biomass + validation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332" y="5459123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Mg/ha with an interval that is checked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467" y="5719540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4332" y="5699068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Live polygon inference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4332" y="5975589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Draw an area; evidence returns with its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917" y="2082794"/>
            <a:ext cx="5520252" cy="3107258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Technical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Mg/ha × ha = Mg • CF starts at 0.47; refine by forest type [10] • Crown / biomass / change methods: [2–8]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289639"/>
            <a:ext cx="11531571" cy="6095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"/>
              </a:rPr>
              <a:t>Three scales. One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1974607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CROWNS  /  FINE AERIAL IMAGERY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253990"/>
            <a:ext cx="11531571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Mask2Former + Swin-S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2621612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0.1 m NEON RGB, tiled and merged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2867483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Every mask checked against the canopy height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244604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BIOMASS  /  OPTICAL + SAR + LIDAR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534" y="3523987"/>
            <a:ext cx="11531571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Gradient boosting + split conformal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534" y="3891608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GEDI footprints are the calibration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534" y="4137480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Coverage measured on held-out ground, not assumed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534" y="4514601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CHANGE  /  MULTI-YEAR OBSERVATIONS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34" y="4793984"/>
            <a:ext cx="11531571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Harmonic baseline + Bayesian confirmation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34" y="5161605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A drop must persist before it is called a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534" y="5407477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Below its power threshold the detector reports nothing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67" y="5819633"/>
            <a:ext cx="11514637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AGB = Σ density × area     |     Aboveground carbon = AGB × CF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114" y="1608662"/>
            <a:ext cx="3979323" cy="2235194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4" name="Picture 3" descr="cover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9114" y="3979323"/>
            <a:ext cx="3979323" cy="2235194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Feasibility &amp; Viability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Measured on 6 sites, 2024–2026 • 60 automated tests • Rondônia, Brazil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1355001"/>
            <a:ext cx="11531571" cy="7111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Three gates. Already passing.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110074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01   VERIFIED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2382175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6 sites audited on 3 independent 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2726429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2 of 5 candidates failed the audit and were rejected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227671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02   EARNED THE MODEL 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534" y="3499772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Spatially-blocked folds, never a random 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534" y="3844026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Neighbouring footprints are one observation, not two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534" y="4345268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03   MEASURED THE TRADE-OFFS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534" y="4617369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False positives on primary forest: 0.01–0.02%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34" y="4961623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Coverage holds on unseen blocks — and one site fails, visibly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34" y="5275397"/>
            <a:ext cx="11531571" cy="5757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70" b="1">
                <a:solidFill>
                  <a:srgbClr val="FFC65C"/>
                </a:solidFill>
                <a:latin typeface="Segoe UI"/>
              </a:rPr>
              <a:t>41.6%  →  0.01%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534" y="5774421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A 365-day window was confirming a national park as cleared.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534" y="5994554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Persistence is a question about time. The gate is now a span.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261" y="1676395"/>
            <a:ext cx="8263446" cy="4648188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Architecture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Planned architecture • Separate crown and regional scales • Biome labels: RESOLVE [9] • Every output retains date and model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154173"/>
            <a:ext cx="11531571" cy="6095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"/>
              </a:rPr>
              <a:t>One polygon. Three coordinated paths.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tack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048" y="1650995"/>
            <a:ext cx="3979323" cy="2235194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4" name="Picture 3" descr="converg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048" y="4013189"/>
            <a:ext cx="3979323" cy="2235194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932492" y="158923"/>
            <a:ext cx="8204613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Prescribed stack, with task queues and COG tile serving added for practical inference [1,7,8]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467" y="1517409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467" y="1796791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Earth Engine · Planetary Computer · GEDI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467" y="2330207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PREPARE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467" y="2609589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Rasterio · GDAL · GeoPandas · odc-stac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67" y="3143005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467" y="3422387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PyTorch · Mask2Former · split conformal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67" y="3955803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67" y="4235185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FastAPI · Redis / Celery · Docker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67" y="4768601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EXPLORE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67" y="5047983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TiTiler · Mapbox GL JS · deck.gl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467" y="5581720"/>
            <a:ext cx="11514637" cy="3894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30" b="1">
                <a:solidFill>
                  <a:srgbClr val="FFFFFF"/>
                </a:solidFill>
                <a:latin typeface="Segoe UI"/>
              </a:rPr>
              <a:t>Windowed COG reads. Cached reports.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467" y="5862305"/>
            <a:ext cx="11514637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B6FAFF"/>
                </a:solidFill>
                <a:latin typeface="Segoe UI"/>
              </a:rPr>
              <a:t>Cold report 151–222 s · cached 3–23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67" y="6082438"/>
            <a:ext cx="11514637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B6FAFF"/>
                </a:solidFill>
                <a:latin typeface="Segoe UI"/>
              </a:rPr>
              <a:t>7 sources, each free to fail alone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2254" y="1811862"/>
            <a:ext cx="6637850" cy="4428055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1">
                <a:solidFill>
                  <a:srgbClr val="FEFEFF"/>
                </a:solidFill>
                <a:latin typeface="Segoe UI"/>
              </a:rPr>
              <a:t>Impact &amp;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Stock change is not credited sequestration [10] • Field verification remains essential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545332"/>
            <a:ext cx="11531571" cy="778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70" b="1">
                <a:solidFill>
                  <a:srgbClr val="FFFFFF"/>
                </a:solidFill>
                <a:latin typeface="Segoe UI"/>
              </a:rPr>
              <a:t>Evidence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2019464"/>
            <a:ext cx="11531571" cy="778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70" b="1">
                <a:solidFill>
                  <a:srgbClr val="FFFFFF"/>
                </a:solidFill>
                <a:latin typeface="Segoe UI"/>
              </a:rPr>
              <a:t>every forest decision.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838205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FOREST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3099808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Prioritise persistent loss alerts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3398511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Confirmed and provisional kept apart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718736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RESTORATION TEAMS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534" y="3980339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Track canopy and biomass trends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534" y="4279042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Against a measured 2020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534" y="4599268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CARBON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534" y="4860870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Trace stock change with its interval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34" y="5159573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Bias-adjusted area, not pixel counts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34" y="5479799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COMPLIANCE TEAMS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534" y="5741401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Evidence for EUDR, due Dec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534" y="6040104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ESA WorldCover 2020 is the cut-off layer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 Research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5295" y="1644853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046" y="1633974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Official scope + submission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046" y="2027518"/>
            <a:ext cx="10990058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ORION PS-03 · Microsoft Club SIST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295" y="2517188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046" y="2506297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Satellite observations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374" y="2899525"/>
            <a:ext cx="10989731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Sentinel-1 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2640" y="2899525"/>
            <a:ext cx="8644465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Sentinel-2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295" y="3389196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046" y="3378305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Biomass reference targets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046" y="3771849"/>
            <a:ext cx="10990058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NASA GEDI L4A · footprints +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295" y="4261204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046" y="4250312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Crown-scale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374" y="4643857"/>
            <a:ext cx="10989731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NEON 0.1 m RGB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6242" y="4643857"/>
            <a:ext cx="9050863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NEON 1 m CHM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295" y="5133211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046" y="5122320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Mask2Former + crown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046" y="5515864"/>
            <a:ext cx="10990058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Cheng et al., 2022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3198" y="5515864"/>
            <a:ext cx="9033907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Nakada et al., 2026 preprint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143" y="1644853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5905" y="1633974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Crown segmentation benchmark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5905" y="2027518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Detectree2 · Ball et al., 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143" y="2517188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5905" y="2506297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Quantile biomass regression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5905" y="2899525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XGBoost · official quantile objective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143" y="3389196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5905" y="3378305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Time series + raster serving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6221" y="3771849"/>
            <a:ext cx="5130883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Earth Engine CCDC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2775" y="3771849"/>
            <a:ext cx="2904330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TiTiler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143" y="4261204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5905" y="4250312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Biome labels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05905" y="4643857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RESOLVE ecoregions · Dinerstein et al., 2017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4143" y="5133211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5905" y="5122320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Biomass-to-carbon formulation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5905" y="5515864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IPCC 2006 · Forest Land · Table 4.3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Primary references • Accessed 20 September 2026 • Synthetic 3D illustrations • First results measured on 6 sites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