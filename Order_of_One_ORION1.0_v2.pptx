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Inter Medium" charset="1" panose="02000503000000020004"/>
      <p:regular r:id="rId14"/>
    </p:embeddedFont>
    <p:embeddedFont>
      <p:font typeface="Inter" charset="1" panose="02000503000000020004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font14.fntdata"/><Relationship Id="rId15" Type="http://schemas.openxmlformats.org/officeDocument/2006/relationships/font" Target="fonts/font15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hyperlink" Target="https://sylvasense-orion.vercel.app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hyperlink" Target="https://sentiwiki.copernicus.eu/web/s1-processing" TargetMode="External"/><Relationship Id="rId8" Type="http://schemas.openxmlformats.org/officeDocument/2006/relationships/hyperlink" Target="https://sentiwiki.copernicus.eu/web/s2-products" TargetMode="External"/><Relationship Id="rId9" Type="http://schemas.openxmlformats.org/officeDocument/2006/relationships/hyperlink" Target="https://daac.ornl.gov/cgi-bin/dsviewer.pl?ds_id=2299" TargetMode="External"/><Relationship Id="rId10" Type="http://schemas.openxmlformats.org/officeDocument/2006/relationships/hyperlink" Target="https://data.neonscience.org/data-products/DP3.30010.001" TargetMode="External"/><Relationship Id="rId11" Type="http://schemas.openxmlformats.org/officeDocument/2006/relationships/hyperlink" Target="https://data.neonscience.org/data-products/DP3.30015.001" TargetMode="External"/><Relationship Id="rId12" Type="http://schemas.openxmlformats.org/officeDocument/2006/relationships/hyperlink" Target="https://arxiv.org/abs/2112.01527" TargetMode="External"/><Relationship Id="rId13" Type="http://schemas.openxmlformats.org/officeDocument/2006/relationships/hyperlink" Target="https://github.com/PatBall1/detectree2" TargetMode="External"/><Relationship Id="rId14" Type="http://schemas.openxmlformats.org/officeDocument/2006/relationships/hyperlink" Target="https://xgboost.readthedocs.io/en/stable/parameter.html" TargetMode="External"/><Relationship Id="rId15" Type="http://schemas.openxmlformats.org/officeDocument/2006/relationships/hyperlink" Target="https://developers.google.com/earth-engine/apidocs/ee-algorithms-temporalsegmentation-ccdc" TargetMode="External"/><Relationship Id="rId16" Type="http://schemas.openxmlformats.org/officeDocument/2006/relationships/hyperlink" Target="https://developmentseed.org/titiler/" TargetMode="External"/><Relationship Id="rId17" Type="http://schemas.openxmlformats.org/officeDocument/2006/relationships/hyperlink" Target="https://doi.org/10.1093/biosci/bix014" TargetMode="External"/><Relationship Id="rId18" Type="http://schemas.openxmlformats.org/officeDocument/2006/relationships/hyperlink" Target="https://www.ipcc-nggip.iges.or.jp/public/2006gl/pdf/4_Volume4/V4_04_Ch4_Forest_Land.pdf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7920858" y="-263261"/>
            <a:ext cx="11596566" cy="11596566"/>
          </a:xfrm>
          <a:custGeom>
            <a:avLst/>
            <a:gdLst/>
            <a:ahLst/>
            <a:cxnLst/>
            <a:rect r="r" b="b" t="t" l="l"/>
            <a:pathLst>
              <a:path h="11596566" w="11596566">
                <a:moveTo>
                  <a:pt x="0" y="0"/>
                </a:moveTo>
                <a:lnTo>
                  <a:pt x="11596566" y="0"/>
                </a:lnTo>
                <a:lnTo>
                  <a:pt x="11596566" y="11596566"/>
                </a:lnTo>
                <a:lnTo>
                  <a:pt x="0" y="115965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5000"/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2672236" y="2459259"/>
            <a:ext cx="11046906" cy="22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80"/>
              </a:lnSpc>
            </a:pPr>
            <a:r>
              <a:rPr lang="en-US" b="true" sz="18785" spc="-93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ORION 1.0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261449" y="5439772"/>
            <a:ext cx="12499479" cy="3401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ID: ORION-PS-03</a:t>
            </a: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Title: SylvaSense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ID: [ FILL THIS IN ]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Name: Order of One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Proposed</a:t>
            </a: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 Solution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403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SYLVASENSE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27277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From canopy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6548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to carbon.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5005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Inter"/>
              </a:rPr>
              <a:t>One polygon in. Four kinds of evidence out.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54655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B6FAFF"/>
                </a:solidFill>
                <a:latin typeface="Inter"/>
              </a:rPr>
              <a:t>Every number carries its uncertainty.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61136" y="62552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1773936" y="62245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Crown GeoJSON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1773936" y="66393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Per-tree polygons, each with a confidence score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61136" y="70299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1773936" y="6999223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Spectral-toggle map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1773936" y="7414006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Optical, radar and structure in one frame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61136" y="78046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1773936" y="77739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Biomass + validation report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1773936" y="81887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Mg/ha with an interval that is checked</a:t>
            </a:r>
          </a:p>
        </p:txBody>
      </p:sp>
      <p:sp>
        <p:nvSpPr>
          <p:cNvPr id="22" name="sylva-text-19"/>
          <p:cNvSpPr txBox="1"/>
          <p:nvPr/>
        </p:nvSpPr>
        <p:spPr>
          <a:xfrm>
            <a:off x="961136" y="85793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23" name="sylva-text-20"/>
          <p:cNvSpPr txBox="1"/>
          <p:nvPr/>
        </p:nvSpPr>
        <p:spPr>
          <a:xfrm>
            <a:off x="1773936" y="85486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Live polygon inference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73936" y="89634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Draw an area; evidence returns with its sources</a:t>
            </a:r>
          </a:p>
        </p:txBody>
      </p:sp>
      <p:pic>
        <p:nvPicPr>
          <p:cNvPr id="25" name="sylva-diagram-slide2" descr="slide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3800" y="2476499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6" name="sylva-diagram-provenance" descr="provena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3800" y="5943600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7" name="sylva-text-24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  <a:hlinkClick r:id="rId9"/>
              </a:rPr>
              <a:t>Four outputs from one request • Live system, first results on 6 sites • sylvasense-orion.vercel.app</a:t>
            </a:r>
          </a:p>
        </p:txBody>
      </p:sp>
      <p:sp>
        <p:nvSpPr>
          <p:cNvPr id="28" name="sylva-text-25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echnical Approach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19344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Three scales. One pipeline.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296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CROWNS  /  FINE AERIAL IMAGERY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38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Mask2Former + Swin-S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393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0.1 m NEON RGB, tiled and merged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4301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Every mask checked against the canopy height model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4866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BIOMASS  /  OPTICAL + SAR + LIDAR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285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Gradient boosting + split conformal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5837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GEDI footprints are the calibration target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206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Coverage measured on held-out ground, not assumed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677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CHANGE  /  MULTI-YEAR OBSERVATIONS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19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Harmonic baseline + Bayesian confirmation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774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A drop must persist before it is called a detection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111235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Below its power threshold the detector reports nothing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961136" y="8729472"/>
            <a:ext cx="17272000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AGB = Σ density × area     |     Aboveground carbon = AGB × CF</a:t>
            </a:r>
          </a:p>
        </p:txBody>
      </p:sp>
      <p:pic>
        <p:nvPicPr>
          <p:cNvPr id="22" name="sylva-diagram-slide3" descr="slid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0400" y="3124200"/>
            <a:ext cx="8280400" cy="46609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Mg/ha × ha = Mg • CF starts at 0.47; refine by forest type [10] • Crown / biomass / change methods: [2–8]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easibility &amp; Viability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032507"/>
            <a:ext cx="17297399" cy="1066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Inter"/>
              </a:rPr>
              <a:t>Three gates. Already passing.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3165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01   VERIFIED THE DATA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5732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6 sites audited on 3 independent layers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4089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2 of 5 candidates failed the audit and were rejected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48415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02   EARNED THE MODEL CHOICE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52496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Spatially-blocked folds, never a random split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7660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Neighbouring footprints are one observation, not two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6517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03   MEASURED THE TRADE-OFFS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9260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False positives on primary forest: 0.01–0.02%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74424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Coverage holds on unseen blocks — and one site fails, visibly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913116"/>
            <a:ext cx="17297399" cy="863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400" b="1">
                <a:solidFill>
                  <a:srgbClr val="FFC65C"/>
                </a:solidFill>
                <a:latin typeface="Inter"/>
              </a:rPr>
              <a:t>41.6%  →  0.01%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8661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A 365-day window was confirming a national park as cleared.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9918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Persistence is a question about time. The gate is now a span.</a:t>
            </a:r>
          </a:p>
        </p:txBody>
      </p:sp>
      <p:pic>
        <p:nvPicPr>
          <p:cNvPr id="21" name="sylva-diagram-slide4" descr="slid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88700" y="2413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sylva-diagram-coverage" descr="cove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88700" y="5969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Measured on 6 sites, 2024–2026 • 60 automated tests • Rondônia, Brazil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Architecture Diagram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17312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One polygon. Three coordinated paths.</a:t>
            </a:r>
          </a:p>
        </p:txBody>
      </p:sp>
      <p:pic>
        <p:nvPicPr>
          <p:cNvPr id="9" name="sylva-diagram-slide5" descr="slid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6399" y="2514600"/>
            <a:ext cx="12395200" cy="69723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10" name="sylva-text-7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Planned architecture • Separate crown and regional scales • Biome labels: RESOLVE [9] • Every output retains date and model version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981050" y="829687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Tech stack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61136" y="22761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DATA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61136" y="26951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Earth Engine · Planetary Computer · GEDI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61136" y="34953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PREPARE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61136" y="39143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Rasterio · GDAL · GeoPandas · odc-stac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61136" y="47145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MODEL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61136" y="51335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PyTorch · Mask2Former · split conformal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61136" y="59337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SERVE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61136" y="63527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FastAPI · Redis / Celery · Docker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61136" y="71529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EXPLORE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61136" y="75719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TiTiler · Mapbox GL JS · deck.gl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61136" y="8372601"/>
            <a:ext cx="17272000" cy="584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Inter"/>
              </a:rPr>
              <a:t>Windowed COG reads. Cached reports.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61136" y="87934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Cold report 151–222 s · cached 3–23 ms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61136" y="91236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7 sources, each free to fail alone</a:t>
            </a:r>
          </a:p>
        </p:txBody>
      </p:sp>
      <p:pic>
        <p:nvPicPr>
          <p:cNvPr id="21" name="sylva-diagram-stack6" descr="stack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2599" y="2476499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sylva-diagram-convergence" descr="converg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2599" y="60198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Prescribed stack, with task queues and COG tile serving added for practical inference [1,7,8]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Im</a:t>
            </a: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pact &amp; Benefits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318004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Evidence for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3029203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every forest decision.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42573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FOREST TEAMS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4649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Prioritise persistent loss alerts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50977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Confirmed and provisional kept apart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5578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RESTORATION TEAMS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9705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Track canopy and biomass trends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64185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Against a measured 2020 baseline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898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CARBON ANALYSTS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7291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Trace stock change with its interval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7393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Bias-adjusted area, not pixel counts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82197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COMPLIANCE TEAMS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6121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Evidence for EUDR, due Dec 2026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935735" y="90601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ESA WorldCover 2020 is the cut-off layer</a:t>
            </a:r>
          </a:p>
        </p:txBody>
      </p:sp>
      <p:pic>
        <p:nvPicPr>
          <p:cNvPr id="22" name="sylva-diagram-slide7" descr="slide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399" y="2717799"/>
            <a:ext cx="9956799" cy="66421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Stock change is not credited sequestration [10] • Field verification remains essential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Re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search &amp; References</a:t>
            </a:r>
          </a:p>
        </p:txBody>
      </p:sp>
      <p:sp>
        <p:nvSpPr>
          <p:cNvPr id="8" name="sylva-text-5"/>
          <p:cNvSpPr txBox="1"/>
          <p:nvPr/>
        </p:nvSpPr>
        <p:spPr>
          <a:xfrm>
            <a:off x="935735" y="24653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1748535" y="24508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Official scope + submission rules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1748535" y="30350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ORION PS-03 · Microsoft Club SIST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37734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1748535" y="37589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Satellite observations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1748535" y="43431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7"/>
              </a:rPr>
              <a:t>Sentinel-1 processing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5266436" y="4343171"/>
            <a:ext cx="129667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8"/>
              </a:rPr>
              <a:t>Sentinel-2 resolution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50815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1748535" y="50670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 reference targets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1748535" y="56512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9"/>
              </a:rPr>
              <a:t>NASA GEDI L4A · footprints + quality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63896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1748535" y="63751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Crown-scale data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1748535" y="69593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0"/>
              </a:rPr>
              <a:t>NEON 0.1 m RGB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4656836" y="6959371"/>
            <a:ext cx="135763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1"/>
              </a:rPr>
              <a:t>NEON 1 m CHM</a:t>
            </a:r>
          </a:p>
        </p:txBody>
      </p:sp>
      <p:sp>
        <p:nvSpPr>
          <p:cNvPr id="22" name="sylva-text-19"/>
          <p:cNvSpPr txBox="1"/>
          <p:nvPr/>
        </p:nvSpPr>
        <p:spPr>
          <a:xfrm>
            <a:off x="935735" y="7697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05</a:t>
            </a:r>
          </a:p>
        </p:txBody>
      </p:sp>
      <p:sp>
        <p:nvSpPr>
          <p:cNvPr id="23" name="sylva-text-20"/>
          <p:cNvSpPr txBox="1"/>
          <p:nvPr/>
        </p:nvSpPr>
        <p:spPr>
          <a:xfrm>
            <a:off x="1748535" y="76832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Mask2Former + crown evidence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48535" y="82674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2"/>
              </a:rPr>
              <a:t>Cheng et al., 2022</a:t>
            </a:r>
          </a:p>
        </p:txBody>
      </p:sp>
      <p:sp>
        <p:nvSpPr>
          <p:cNvPr id="25" name="sylva-text-22"/>
          <p:cNvSpPr txBox="1"/>
          <p:nvPr/>
        </p:nvSpPr>
        <p:spPr>
          <a:xfrm>
            <a:off x="4682236" y="8267471"/>
            <a:ext cx="135508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Nakada et al., 2026 preprint</a:t>
            </a:r>
          </a:p>
        </p:txBody>
      </p:sp>
      <p:sp>
        <p:nvSpPr>
          <p:cNvPr id="26" name="sylva-text-23"/>
          <p:cNvSpPr txBox="1"/>
          <p:nvPr/>
        </p:nvSpPr>
        <p:spPr>
          <a:xfrm>
            <a:off x="9724136" y="24653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06</a:t>
            </a:r>
          </a:p>
        </p:txBody>
      </p:sp>
      <p:sp>
        <p:nvSpPr>
          <p:cNvPr id="27" name="sylva-text-24"/>
          <p:cNvSpPr txBox="1"/>
          <p:nvPr/>
        </p:nvSpPr>
        <p:spPr>
          <a:xfrm>
            <a:off x="10536935" y="24508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 segmentation benchmark</a:t>
            </a:r>
          </a:p>
        </p:txBody>
      </p:sp>
      <p:sp>
        <p:nvSpPr>
          <p:cNvPr id="28" name="sylva-text-25"/>
          <p:cNvSpPr txBox="1"/>
          <p:nvPr/>
        </p:nvSpPr>
        <p:spPr>
          <a:xfrm>
            <a:off x="10536935" y="30350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3"/>
              </a:rPr>
              <a:t>Detectree2 · Ball et al., 2023</a:t>
            </a:r>
          </a:p>
        </p:txBody>
      </p:sp>
      <p:sp>
        <p:nvSpPr>
          <p:cNvPr id="29" name="sylva-text-26"/>
          <p:cNvSpPr txBox="1"/>
          <p:nvPr/>
        </p:nvSpPr>
        <p:spPr>
          <a:xfrm>
            <a:off x="9724136" y="37734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07</a:t>
            </a:r>
          </a:p>
        </p:txBody>
      </p:sp>
      <p:sp>
        <p:nvSpPr>
          <p:cNvPr id="30" name="sylva-text-27"/>
          <p:cNvSpPr txBox="1"/>
          <p:nvPr/>
        </p:nvSpPr>
        <p:spPr>
          <a:xfrm>
            <a:off x="10536935" y="37589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Quantile biomass regression</a:t>
            </a:r>
          </a:p>
        </p:txBody>
      </p:sp>
      <p:sp>
        <p:nvSpPr>
          <p:cNvPr id="31" name="sylva-text-28"/>
          <p:cNvSpPr txBox="1"/>
          <p:nvPr/>
        </p:nvSpPr>
        <p:spPr>
          <a:xfrm>
            <a:off x="10536935" y="43431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4"/>
              </a:rPr>
              <a:t>XGBoost · official quantile objective</a:t>
            </a:r>
          </a:p>
        </p:txBody>
      </p:sp>
      <p:sp>
        <p:nvSpPr>
          <p:cNvPr id="32" name="sylva-text-29"/>
          <p:cNvSpPr txBox="1"/>
          <p:nvPr/>
        </p:nvSpPr>
        <p:spPr>
          <a:xfrm>
            <a:off x="9724136" y="50815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08</a:t>
            </a:r>
          </a:p>
        </p:txBody>
      </p:sp>
      <p:sp>
        <p:nvSpPr>
          <p:cNvPr id="33" name="sylva-text-30"/>
          <p:cNvSpPr txBox="1"/>
          <p:nvPr/>
        </p:nvSpPr>
        <p:spPr>
          <a:xfrm>
            <a:off x="10536935" y="50670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Time series + raster serving</a:t>
            </a:r>
          </a:p>
        </p:txBody>
      </p:sp>
      <p:sp>
        <p:nvSpPr>
          <p:cNvPr id="34" name="sylva-text-31"/>
          <p:cNvSpPr txBox="1"/>
          <p:nvPr/>
        </p:nvSpPr>
        <p:spPr>
          <a:xfrm>
            <a:off x="10536935" y="56512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5"/>
              </a:rPr>
              <a:t>Earth Engine CCDC</a:t>
            </a:r>
          </a:p>
        </p:txBody>
      </p:sp>
      <p:sp>
        <p:nvSpPr>
          <p:cNvPr id="35" name="sylva-text-32"/>
          <p:cNvSpPr txBox="1"/>
          <p:nvPr/>
        </p:nvSpPr>
        <p:spPr>
          <a:xfrm>
            <a:off x="13877036" y="5651271"/>
            <a:ext cx="43561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6"/>
              </a:rPr>
              <a:t>TiTiler</a:t>
            </a:r>
          </a:p>
        </p:txBody>
      </p:sp>
      <p:sp>
        <p:nvSpPr>
          <p:cNvPr id="36" name="sylva-text-33"/>
          <p:cNvSpPr txBox="1"/>
          <p:nvPr/>
        </p:nvSpPr>
        <p:spPr>
          <a:xfrm>
            <a:off x="9724136" y="63896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09</a:t>
            </a:r>
          </a:p>
        </p:txBody>
      </p:sp>
      <p:sp>
        <p:nvSpPr>
          <p:cNvPr id="37" name="sylva-text-34"/>
          <p:cNvSpPr txBox="1"/>
          <p:nvPr/>
        </p:nvSpPr>
        <p:spPr>
          <a:xfrm>
            <a:off x="10536935" y="63751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Biome labels</a:t>
            </a:r>
          </a:p>
        </p:txBody>
      </p:sp>
      <p:sp>
        <p:nvSpPr>
          <p:cNvPr id="38" name="sylva-text-35"/>
          <p:cNvSpPr txBox="1"/>
          <p:nvPr/>
        </p:nvSpPr>
        <p:spPr>
          <a:xfrm>
            <a:off x="10536935" y="69593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7"/>
              </a:rPr>
              <a:t>RESOLVE ecoregions · Dinerstein et al., 2017</a:t>
            </a:r>
          </a:p>
        </p:txBody>
      </p:sp>
      <p:sp>
        <p:nvSpPr>
          <p:cNvPr id="39" name="sylva-text-36"/>
          <p:cNvSpPr txBox="1"/>
          <p:nvPr/>
        </p:nvSpPr>
        <p:spPr>
          <a:xfrm>
            <a:off x="9724136" y="76977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10</a:t>
            </a:r>
          </a:p>
        </p:txBody>
      </p:sp>
      <p:sp>
        <p:nvSpPr>
          <p:cNvPr id="40" name="sylva-text-37"/>
          <p:cNvSpPr txBox="1"/>
          <p:nvPr/>
        </p:nvSpPr>
        <p:spPr>
          <a:xfrm>
            <a:off x="10536935" y="76832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Biomass-to-carbon formulation</a:t>
            </a:r>
          </a:p>
        </p:txBody>
      </p:sp>
      <p:sp>
        <p:nvSpPr>
          <p:cNvPr id="41" name="sylva-text-38"/>
          <p:cNvSpPr txBox="1"/>
          <p:nvPr/>
        </p:nvSpPr>
        <p:spPr>
          <a:xfrm>
            <a:off x="10536935" y="82674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8"/>
              </a:rPr>
              <a:t>IPCC 2006 · Forest Land · Table 4.3</a:t>
            </a:r>
          </a:p>
        </p:txBody>
      </p:sp>
      <p:sp>
        <p:nvSpPr>
          <p:cNvPr id="42" name="sylva-text-39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Primary references • Accessed 20 September 2026 • Synthetic 3D illustrations • First results measured on 6 sites</a:t>
            </a:r>
          </a:p>
        </p:txBody>
      </p:sp>
      <p:sp>
        <p:nvSpPr>
          <p:cNvPr id="43" name="sylva-text-40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DAHShe-n_sg</dc:identifier>
  <dcterms:modified xsi:type="dcterms:W3CDTF">2011-08-01T06:04:30Z</dcterms:modified>
  <cp:revision>1</cp:revision>
  <dc:title>ORION 1.0</dc:title>
</cp:coreProperties>
</file>