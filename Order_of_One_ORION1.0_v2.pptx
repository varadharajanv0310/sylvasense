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Inter Medium" charset="1" panose="02000503000000020004"/>
      <p:regular r:id="rId14"/>
    </p:embeddedFont>
    <p:embeddedFont>
      <p:font typeface="Inter" charset="1" panose="02000503000000020004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font14.fntdata"/><Relationship Id="rId15" Type="http://schemas.openxmlformats.org/officeDocument/2006/relationships/font" Target="fonts/font15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7920858" y="-263261"/>
            <a:ext cx="11596566" cy="11596566"/>
          </a:xfrm>
          <a:custGeom>
            <a:avLst/>
            <a:gdLst/>
            <a:ahLst/>
            <a:cxnLst/>
            <a:rect r="r" b="b" t="t" l="l"/>
            <a:pathLst>
              <a:path h="11596566" w="11596566">
                <a:moveTo>
                  <a:pt x="0" y="0"/>
                </a:moveTo>
                <a:lnTo>
                  <a:pt x="11596566" y="0"/>
                </a:lnTo>
                <a:lnTo>
                  <a:pt x="11596566" y="11596566"/>
                </a:lnTo>
                <a:lnTo>
                  <a:pt x="0" y="115965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5000"/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2672236" y="2459259"/>
            <a:ext cx="11046906" cy="22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80"/>
              </a:lnSpc>
            </a:pPr>
            <a:r>
              <a:rPr lang="en-US" b="true" sz="18785" spc="-93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ORION 1.0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261449" y="5439772"/>
            <a:ext cx="12499479" cy="3401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Problem Statement ID: ORION-PS-03</a:t>
            </a: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Problem Statement Title: SylvaSense</a:t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ID: [ FILL THIS IN ]</a:t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Name: Order of One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9" name="TextBox 8"/>
          <p:cNvSpPr txBox="1"/>
          <p:nvPr/>
        </p:nvSpPr>
        <p:spPr>
          <a:xfrm>
            <a:off x="3206495" y="8903716"/>
            <a:ext cx="15026640" cy="863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400" b="0">
                <a:solidFill>
                  <a:srgbClr val="B6FAFF"/>
                </a:solidFill>
                <a:latin typeface="Inter"/>
              </a:rPr>
              <a:t>Live demo:  [ PASTE YOUR URL ]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b="true" sz="6999" spc="-34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Proposed</a:t>
            </a:r>
            <a:r>
              <a:rPr lang="en-US" b="true" sz="6999" spc="-34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 Solution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TextBox 7"/>
          <p:cNvSpPr txBox="1"/>
          <p:nvPr/>
        </p:nvSpPr>
        <p:spPr>
          <a:xfrm>
            <a:off x="935735" y="2403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SYLVASENSE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735" y="2727731"/>
            <a:ext cx="17297399" cy="1551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110" b="1">
                <a:solidFill>
                  <a:srgbClr val="FFFFFF"/>
                </a:solidFill>
                <a:latin typeface="Inter"/>
              </a:rPr>
              <a:t>From canopy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735" y="3654831"/>
            <a:ext cx="17297399" cy="1551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110" b="1">
                <a:solidFill>
                  <a:srgbClr val="FFFFFF"/>
                </a:solidFill>
                <a:latin typeface="Inter"/>
              </a:rPr>
              <a:t>to carbon.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5" y="50053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Inter"/>
              </a:rPr>
              <a:t>One polygon in. Four kinds of evidence 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735" y="54655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B6FAFF"/>
                </a:solidFill>
                <a:latin typeface="Inter"/>
              </a:rPr>
              <a:t>Every number carries its uncertainty.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136" y="62552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3936" y="62245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Crown GeoJSON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73936" y="66393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Per-tree polygons, each with a confidence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1136" y="70299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73936" y="6999223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Spectral-toggle 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7414006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Optical, radar and structure in one frame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136" y="78046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73936" y="77739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Biomass + validation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73936" y="81887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Mg/ha with an interval that is checked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136" y="85793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85486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Live polygon inference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73936" y="89634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Draw an area; evidence returns with its sources</a:t>
            </a:r>
          </a:p>
        </p:txBody>
      </p:sp>
      <p:pic>
        <p:nvPicPr>
          <p:cNvPr id="25" name="Picture 24" descr="slide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3800" y="2476499"/>
            <a:ext cx="5842000" cy="3276599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6" name="Picture 25" descr="provena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83800" y="5943600"/>
            <a:ext cx="5842000" cy="3276599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Four outputs from one request • Crown-scale aerial imagery + regional satellite monitoring • Live system, first results on 6 sites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echnical Approach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TextBox 7"/>
          <p:cNvSpPr txBox="1"/>
          <p:nvPr/>
        </p:nvSpPr>
        <p:spPr>
          <a:xfrm>
            <a:off x="935735" y="1934463"/>
            <a:ext cx="17297399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Three scales. One pipeline.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735" y="2961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CROWNS  /  FINE AERIAL IMAGERY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735" y="3380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Mask2Former + Swin-S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5" y="3932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0.1 m NEON RGB, tiled and merged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735" y="4301236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Every mask checked against the canopy height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5735" y="4866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BIOMASS  /  OPTICAL + SAR + LIDAR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5735" y="5285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Gradient boosting + split conformal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735" y="5837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GEDI footprints are the calibration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35" y="6206236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Coverage measured on held-out ground, not assumed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35" y="6771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CHANGE  /  MULTI-YEAR OBSERVATIONS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735" y="7190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Harmonic baseline + Bayesian confirmation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735" y="7742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A drop must persist before it is called a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735" y="8111235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Below its power threshold the detector reports nothing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136" y="8729472"/>
            <a:ext cx="17272000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AGB = Σ density × area     |     Aboveground carbon = AGB × CF</a:t>
            </a:r>
          </a:p>
        </p:txBody>
      </p:sp>
      <p:pic>
        <p:nvPicPr>
          <p:cNvPr id="22" name="Picture 21" descr="slid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0400" y="3124200"/>
            <a:ext cx="8280400" cy="46609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Mg/ha × ha = Mg • CF starts at 0.47; refine by forest type [10] • Crown / biomass / change methods: [2–8]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easibility &amp; Viability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TextBox 7"/>
          <p:cNvSpPr txBox="1"/>
          <p:nvPr/>
        </p:nvSpPr>
        <p:spPr>
          <a:xfrm>
            <a:off x="935735" y="2032507"/>
            <a:ext cx="17297399" cy="10667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Inter"/>
              </a:rPr>
              <a:t>Three gates. Already passing.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735" y="3165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01   VERIFIED THE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735" y="35732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6 sites audited on 3 independent 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5" y="40896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2 of 5 candidates failed the audit and were rejected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735" y="48415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02   EARNED THE MODEL 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5735" y="52496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Spatially-blocked folds, never a random 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5735" y="57660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Neighbouring footprints are one observation, not two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735" y="6517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03   MEASURED THE TRADE-OFFS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35" y="69260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False positives on primary forest: 0.01–0.02%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35" y="7442454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Coverage holds on unseen blocks — and one site fails, visibly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735" y="7913116"/>
            <a:ext cx="17297399" cy="863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400" b="1">
                <a:solidFill>
                  <a:srgbClr val="FFC65C"/>
                </a:solidFill>
                <a:latin typeface="Inter"/>
              </a:rPr>
              <a:t>41.6%  →  0.01%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735" y="86616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A 365-day window was confirming a national park as cleared.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735" y="8991854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Persistence is a question about time. The gate is now a span.</a:t>
            </a:r>
          </a:p>
        </p:txBody>
      </p:sp>
      <p:pic>
        <p:nvPicPr>
          <p:cNvPr id="21" name="Picture 20" descr="slid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88700" y="24130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2" name="Picture 21" descr="cove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88700" y="59690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Measured on 6 sites, 2024–2026 • 60 automated tests • Rondônia, Brazil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Architecture Diagram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TextBox 7"/>
          <p:cNvSpPr txBox="1"/>
          <p:nvPr/>
        </p:nvSpPr>
        <p:spPr>
          <a:xfrm>
            <a:off x="935735" y="1731263"/>
            <a:ext cx="17297399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One polygon. Three coordinated paths.</a:t>
            </a:r>
          </a:p>
        </p:txBody>
      </p:sp>
      <p:pic>
        <p:nvPicPr>
          <p:cNvPr id="9" name="Picture 8" descr="slid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6399" y="2514600"/>
            <a:ext cx="12395200" cy="69723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Planned architecture • Separate crown and regional scales • Biome labels: RESOLVE [9] • Every output retains date and model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981050" y="829687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Tech stack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TextBox 7"/>
          <p:cNvSpPr txBox="1"/>
          <p:nvPr/>
        </p:nvSpPr>
        <p:spPr>
          <a:xfrm>
            <a:off x="961136" y="22761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1136" y="26951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Earth Engine · Planetary Computer · GEDI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1136" y="34953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PREPARE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136" y="39143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Rasterio · GDAL · GeoPandas · odc-stac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1136" y="47145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136" y="51335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PyTorch · Mask2Former · split conformal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1136" y="59337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136" y="63527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FastAPI · Redis / Celery · Docker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1136" y="71529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EXPLORE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136" y="75719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TiTiler · Mapbox GL JS · deck.gl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1136" y="8372601"/>
            <a:ext cx="17272000" cy="584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Inter"/>
              </a:rPr>
              <a:t>Windowed COG reads. Cached reports.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136" y="8793479"/>
            <a:ext cx="172720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B6FAFF"/>
                </a:solidFill>
                <a:latin typeface="Inter"/>
              </a:rPr>
              <a:t>Cold report 151–222 s · cached 3–23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1136" y="9123679"/>
            <a:ext cx="172720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B6FAFF"/>
                </a:solidFill>
                <a:latin typeface="Inter"/>
              </a:rPr>
              <a:t>7 sources, each free to fail alone</a:t>
            </a:r>
          </a:p>
        </p:txBody>
      </p:sp>
      <p:pic>
        <p:nvPicPr>
          <p:cNvPr id="21" name="Picture 20" descr="stack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2599" y="2476499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2" name="Picture 21" descr="converg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2599" y="60198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Prescribed stack, with task queues and COG tile serving added for practical inference [1,7,8]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b="true" sz="6999" spc="-349">
                <a:solidFill>
                  <a:srgbClr val="FEFEFF"/>
                </a:solidFill>
                <a:latin typeface="Inter Medium"/>
                <a:ea typeface="Inter Medium"/>
                <a:cs typeface="Inter Medium"/>
                <a:sym typeface="Inter Medium"/>
              </a:rPr>
              <a:t>Im</a:t>
            </a:r>
            <a:r>
              <a:rPr lang="en-US" b="true" sz="6999" spc="-349">
                <a:solidFill>
                  <a:srgbClr val="FEFEFF"/>
                </a:solidFill>
                <a:latin typeface="Inter Medium"/>
                <a:ea typeface="Inter Medium"/>
                <a:cs typeface="Inter Medium"/>
                <a:sym typeface="Inter Medium"/>
              </a:rPr>
              <a:t>pact &amp; Benefits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TextBox 7"/>
          <p:cNvSpPr txBox="1"/>
          <p:nvPr/>
        </p:nvSpPr>
        <p:spPr>
          <a:xfrm>
            <a:off x="935735" y="2318004"/>
            <a:ext cx="17297399" cy="1168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Inter"/>
              </a:rPr>
              <a:t>Evidence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735" y="3029203"/>
            <a:ext cx="17297399" cy="1168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Inter"/>
              </a:rPr>
              <a:t>every forest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735" y="42573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FOREST TEAMS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5" y="46497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Prioritise persistent loss alerts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735" y="5097779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Confirmed and provisional kept apart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5735" y="5578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RESTORATION TEAMS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5735" y="59705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Track canopy and biomass trends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735" y="6418579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Against a measured 2020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35" y="6898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CARBON ANALYSTS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35" y="72913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Trace stock change with its interval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735" y="7739380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Bias-adjusted area, not pixel counts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735" y="82197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COMPLIANCE TEAMS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735" y="86121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Evidence for EUDR, due Dec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735" y="9060180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ESA WorldCover 2020 is the cut-off layer</a:t>
            </a:r>
          </a:p>
        </p:txBody>
      </p:sp>
      <p:pic>
        <p:nvPicPr>
          <p:cNvPr id="22" name="Picture 21" descr="slide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399" y="2717799"/>
            <a:ext cx="9956799" cy="66421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Stock change is not credited sequestration [10] • Field verification remains essential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Re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search &amp;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5735" y="24653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8535" y="24508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Official scope + submission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48535" y="30350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ORION PS-03 · Microsoft Club 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5" y="37734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8535" y="37589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Satellite observations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8535" y="43431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Sentinel-1 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6436" y="4343171"/>
            <a:ext cx="129667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Sentinel-2 resolution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735" y="50815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48535" y="50670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Biomass reference targets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48535" y="56512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NASA GEDI L4A · footprints + 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735" y="63896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48535" y="63751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Crown-scale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48535" y="69593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NEON 0.1 m RGB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6836" y="6959371"/>
            <a:ext cx="135763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NEON 1 m CHM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735" y="76977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48535" y="76832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Mask2Former + crown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48535" y="82674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Cheng et al.,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2236" y="8267471"/>
            <a:ext cx="135508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Nakada et al., 2026 preprint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4136" y="24653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36935" y="24508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Crown segmentation benchmark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36935" y="30350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Detectree2 · Ball et al., 2023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24136" y="37734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36935" y="37589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Quantile biomass regression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6935" y="43431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XGBoost · official quantile objective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24136" y="50815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36935" y="50670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Time series + raster serving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36935" y="56512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Earth Engine CCDC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77036" y="5651271"/>
            <a:ext cx="43561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TiTiler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24136" y="63896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6935" y="63751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Biome labels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36935" y="69593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RESOLVE ecoregions · Dinerstein et al., 2017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4136" y="76977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36935" y="76832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Biomass-to-carbon formulation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36935" y="82674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IPCC 2006 · Forest Land · Table 4.3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Primary references • Accessed 20 September 2026 • Synthetic 3D illustrations • First results measured on 6 sites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DAHShe-n_sg</dc:identifier>
  <dcterms:modified xsi:type="dcterms:W3CDTF">2011-08-01T06:04:30Z</dcterms:modified>
  <cp:revision>1</cp:revision>
  <dc:title>ORION 1.0</dc:title>
</cp:coreProperties>
</file>